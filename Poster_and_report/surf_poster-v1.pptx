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Lst>
  <p:sldSz cx="21383625" cy="30274895"/>
  <p:notesSz cx="6858000" cy="9144000"/>
  <p:custDataLst>
    <p:tags r:id="rId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446" autoAdjust="0"/>
  </p:normalViewPr>
  <p:slideViewPr>
    <p:cSldViewPr snapToGrid="0">
      <p:cViewPr>
        <p:scale>
          <a:sx n="100" d="100"/>
          <a:sy n="100" d="100"/>
        </p:scale>
        <p:origin x="-1940" y="-15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5.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ABC745-B1D7-4D24-9E76-32EA2CA7A1E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E8CD5-7ACA-478E-B0F5-72B6731EF8F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2479675" rtl="0" eaLnBrk="1" latinLnBrk="0" hangingPunct="1">
      <a:defRPr sz="3255" kern="1200">
        <a:solidFill>
          <a:schemeClr val="tx1"/>
        </a:solidFill>
        <a:latin typeface="+mn-lt"/>
        <a:ea typeface="+mn-ea"/>
        <a:cs typeface="+mn-cs"/>
      </a:defRPr>
    </a:lvl1pPr>
    <a:lvl2pPr marL="1239520" algn="l" defTabSz="2479675" rtl="0" eaLnBrk="1" latinLnBrk="0" hangingPunct="1">
      <a:defRPr sz="3255" kern="1200">
        <a:solidFill>
          <a:schemeClr val="tx1"/>
        </a:solidFill>
        <a:latin typeface="+mn-lt"/>
        <a:ea typeface="+mn-ea"/>
        <a:cs typeface="+mn-cs"/>
      </a:defRPr>
    </a:lvl2pPr>
    <a:lvl3pPr marL="2479675" algn="l" defTabSz="2479675" rtl="0" eaLnBrk="1" latinLnBrk="0" hangingPunct="1">
      <a:defRPr sz="3255" kern="1200">
        <a:solidFill>
          <a:schemeClr val="tx1"/>
        </a:solidFill>
        <a:latin typeface="+mn-lt"/>
        <a:ea typeface="+mn-ea"/>
        <a:cs typeface="+mn-cs"/>
      </a:defRPr>
    </a:lvl3pPr>
    <a:lvl4pPr marL="3719195" algn="l" defTabSz="2479675" rtl="0" eaLnBrk="1" latinLnBrk="0" hangingPunct="1">
      <a:defRPr sz="3255" kern="1200">
        <a:solidFill>
          <a:schemeClr val="tx1"/>
        </a:solidFill>
        <a:latin typeface="+mn-lt"/>
        <a:ea typeface="+mn-ea"/>
        <a:cs typeface="+mn-cs"/>
      </a:defRPr>
    </a:lvl4pPr>
    <a:lvl5pPr marL="4959350" algn="l" defTabSz="2479675" rtl="0" eaLnBrk="1" latinLnBrk="0" hangingPunct="1">
      <a:defRPr sz="3255" kern="1200">
        <a:solidFill>
          <a:schemeClr val="tx1"/>
        </a:solidFill>
        <a:latin typeface="+mn-lt"/>
        <a:ea typeface="+mn-ea"/>
        <a:cs typeface="+mn-cs"/>
      </a:defRPr>
    </a:lvl5pPr>
    <a:lvl6pPr marL="6198870" algn="l" defTabSz="2479675" rtl="0" eaLnBrk="1" latinLnBrk="0" hangingPunct="1">
      <a:defRPr sz="3255" kern="1200">
        <a:solidFill>
          <a:schemeClr val="tx1"/>
        </a:solidFill>
        <a:latin typeface="+mn-lt"/>
        <a:ea typeface="+mn-ea"/>
        <a:cs typeface="+mn-cs"/>
      </a:defRPr>
    </a:lvl6pPr>
    <a:lvl7pPr marL="7439025" algn="l" defTabSz="2479675" rtl="0" eaLnBrk="1" latinLnBrk="0" hangingPunct="1">
      <a:defRPr sz="3255" kern="1200">
        <a:solidFill>
          <a:schemeClr val="tx1"/>
        </a:solidFill>
        <a:latin typeface="+mn-lt"/>
        <a:ea typeface="+mn-ea"/>
        <a:cs typeface="+mn-cs"/>
      </a:defRPr>
    </a:lvl7pPr>
    <a:lvl8pPr marL="8678545" algn="l" defTabSz="2479675" rtl="0" eaLnBrk="1" latinLnBrk="0" hangingPunct="1">
      <a:defRPr sz="3255" kern="1200">
        <a:solidFill>
          <a:schemeClr val="tx1"/>
        </a:solidFill>
        <a:latin typeface="+mn-lt"/>
        <a:ea typeface="+mn-ea"/>
        <a:cs typeface="+mn-cs"/>
      </a:defRPr>
    </a:lvl8pPr>
    <a:lvl9pPr marL="9918065" algn="l" defTabSz="2479675" rtl="0" eaLnBrk="1" latinLnBrk="0" hangingPunct="1">
      <a:defRPr sz="32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BE8CD5-7ACA-478E-B0F5-72B6731EF8F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0"/>
            </a:lvl1pPr>
          </a:lstStyle>
          <a:p>
            <a:r>
              <a:rPr lang="zh-CN" altLang="en-US"/>
              <a:t>单击此处编辑母版标题样式</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0"/>
            </a:lvl1pPr>
            <a:lvl2pPr marL="1069340" indent="0" algn="ctr">
              <a:buNone/>
              <a:defRPr sz="4675"/>
            </a:lvl2pPr>
            <a:lvl3pPr marL="2138045" indent="0" algn="ctr">
              <a:buNone/>
              <a:defRPr sz="4210"/>
            </a:lvl3pPr>
            <a:lvl4pPr marL="3207385" indent="0" algn="ctr">
              <a:buNone/>
              <a:defRPr sz="3740"/>
            </a:lvl4pPr>
            <a:lvl5pPr marL="4276725" indent="0" algn="ctr">
              <a:buNone/>
              <a:defRPr sz="3740"/>
            </a:lvl5pPr>
            <a:lvl6pPr marL="5346065" indent="0" algn="ctr">
              <a:buNone/>
              <a:defRPr sz="3740"/>
            </a:lvl6pPr>
            <a:lvl7pPr marL="6414770" indent="0" algn="ctr">
              <a:buNone/>
              <a:defRPr sz="3740"/>
            </a:lvl7pPr>
            <a:lvl8pPr marL="7484110" indent="0" algn="ctr">
              <a:buNone/>
              <a:defRPr sz="3740"/>
            </a:lvl8pPr>
            <a:lvl9pPr marL="8553450" indent="0" algn="ctr">
              <a:buNone/>
              <a:defRPr sz="374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0"/>
            </a:lvl1pPr>
          </a:lstStyle>
          <a:p>
            <a:r>
              <a:rPr lang="zh-CN" altLang="en-US"/>
              <a:t>单击此处编辑母版标题样式</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0">
                <a:solidFill>
                  <a:schemeClr val="tx1"/>
                </a:solidFill>
              </a:defRPr>
            </a:lvl1pPr>
            <a:lvl2pPr marL="1069340" indent="0">
              <a:buNone/>
              <a:defRPr sz="4675">
                <a:solidFill>
                  <a:schemeClr val="tx1">
                    <a:tint val="75000"/>
                  </a:schemeClr>
                </a:solidFill>
              </a:defRPr>
            </a:lvl2pPr>
            <a:lvl3pPr marL="2138045" indent="0">
              <a:buNone/>
              <a:defRPr sz="4210">
                <a:solidFill>
                  <a:schemeClr val="tx1">
                    <a:tint val="75000"/>
                  </a:schemeClr>
                </a:solidFill>
              </a:defRPr>
            </a:lvl3pPr>
            <a:lvl4pPr marL="3207385" indent="0">
              <a:buNone/>
              <a:defRPr sz="3740">
                <a:solidFill>
                  <a:schemeClr val="tx1">
                    <a:tint val="75000"/>
                  </a:schemeClr>
                </a:solidFill>
              </a:defRPr>
            </a:lvl4pPr>
            <a:lvl5pPr marL="4276725" indent="0">
              <a:buNone/>
              <a:defRPr sz="3740">
                <a:solidFill>
                  <a:schemeClr val="tx1">
                    <a:tint val="75000"/>
                  </a:schemeClr>
                </a:solidFill>
              </a:defRPr>
            </a:lvl5pPr>
            <a:lvl6pPr marL="5346065" indent="0">
              <a:buNone/>
              <a:defRPr sz="3740">
                <a:solidFill>
                  <a:schemeClr val="tx1">
                    <a:tint val="75000"/>
                  </a:schemeClr>
                </a:solidFill>
              </a:defRPr>
            </a:lvl6pPr>
            <a:lvl7pPr marL="6414770" indent="0">
              <a:buNone/>
              <a:defRPr sz="3740">
                <a:solidFill>
                  <a:schemeClr val="tx1">
                    <a:tint val="75000"/>
                  </a:schemeClr>
                </a:solidFill>
              </a:defRPr>
            </a:lvl7pPr>
            <a:lvl8pPr marL="7484110" indent="0">
              <a:buNone/>
              <a:defRPr sz="3740">
                <a:solidFill>
                  <a:schemeClr val="tx1">
                    <a:tint val="75000"/>
                  </a:schemeClr>
                </a:solidFill>
              </a:defRPr>
            </a:lvl8pPr>
            <a:lvl9pPr marL="8553450" indent="0">
              <a:buNone/>
              <a:defRPr sz="374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0" b="1"/>
            </a:lvl1pPr>
            <a:lvl2pPr marL="1069340" indent="0">
              <a:buNone/>
              <a:defRPr sz="4675" b="1"/>
            </a:lvl2pPr>
            <a:lvl3pPr marL="2138045" indent="0">
              <a:buNone/>
              <a:defRPr sz="4210" b="1"/>
            </a:lvl3pPr>
            <a:lvl4pPr marL="3207385" indent="0">
              <a:buNone/>
              <a:defRPr sz="3740" b="1"/>
            </a:lvl4pPr>
            <a:lvl5pPr marL="4276725" indent="0">
              <a:buNone/>
              <a:defRPr sz="3740" b="1"/>
            </a:lvl5pPr>
            <a:lvl6pPr marL="5346065" indent="0">
              <a:buNone/>
              <a:defRPr sz="3740" b="1"/>
            </a:lvl6pPr>
            <a:lvl7pPr marL="6414770" indent="0">
              <a:buNone/>
              <a:defRPr sz="3740" b="1"/>
            </a:lvl7pPr>
            <a:lvl8pPr marL="7484110" indent="0">
              <a:buNone/>
              <a:defRPr sz="3740" b="1"/>
            </a:lvl8pPr>
            <a:lvl9pPr marL="8553450" indent="0">
              <a:buNone/>
              <a:defRPr sz="374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472912" y="11058863"/>
            <a:ext cx="9046274" cy="1626592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0" b="1"/>
            </a:lvl1pPr>
            <a:lvl2pPr marL="1069340" indent="0">
              <a:buNone/>
              <a:defRPr sz="4675" b="1"/>
            </a:lvl2pPr>
            <a:lvl3pPr marL="2138045" indent="0">
              <a:buNone/>
              <a:defRPr sz="4210" b="1"/>
            </a:lvl3pPr>
            <a:lvl4pPr marL="3207385" indent="0">
              <a:buNone/>
              <a:defRPr sz="3740" b="1"/>
            </a:lvl4pPr>
            <a:lvl5pPr marL="4276725" indent="0">
              <a:buNone/>
              <a:defRPr sz="3740" b="1"/>
            </a:lvl5pPr>
            <a:lvl6pPr marL="5346065" indent="0">
              <a:buNone/>
              <a:defRPr sz="3740" b="1"/>
            </a:lvl6pPr>
            <a:lvl7pPr marL="6414770" indent="0">
              <a:buNone/>
              <a:defRPr sz="3740" b="1"/>
            </a:lvl7pPr>
            <a:lvl8pPr marL="7484110" indent="0">
              <a:buNone/>
              <a:defRPr sz="3740" b="1"/>
            </a:lvl8pPr>
            <a:lvl9pPr marL="8553450" indent="0">
              <a:buNone/>
              <a:defRPr sz="374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10825461" y="11058863"/>
            <a:ext cx="9090826" cy="1626592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5"/>
            </a:lvl1pPr>
          </a:lstStyle>
          <a:p>
            <a:r>
              <a:rPr lang="zh-CN" altLang="en-US"/>
              <a:t>单击此处编辑母版标题样式</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5"/>
            </a:lvl1pPr>
            <a:lvl2pPr>
              <a:defRPr sz="6550"/>
            </a:lvl2pPr>
            <a:lvl3pPr>
              <a:defRPr sz="5610"/>
            </a:lvl3pPr>
            <a:lvl4pPr>
              <a:defRPr sz="4675"/>
            </a:lvl4pPr>
            <a:lvl5pPr>
              <a:defRPr sz="4675"/>
            </a:lvl5pPr>
            <a:lvl6pPr>
              <a:defRPr sz="4675"/>
            </a:lvl6pPr>
            <a:lvl7pPr>
              <a:defRPr sz="4675"/>
            </a:lvl7pPr>
            <a:lvl8pPr>
              <a:defRPr sz="4675"/>
            </a:lvl8pPr>
            <a:lvl9pPr>
              <a:defRPr sz="4675"/>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0"/>
            </a:lvl1pPr>
            <a:lvl2pPr marL="1069340" indent="0">
              <a:buNone/>
              <a:defRPr sz="3275"/>
            </a:lvl2pPr>
            <a:lvl3pPr marL="2138045" indent="0">
              <a:buNone/>
              <a:defRPr sz="2805"/>
            </a:lvl3pPr>
            <a:lvl4pPr marL="3207385" indent="0">
              <a:buNone/>
              <a:defRPr sz="2340"/>
            </a:lvl4pPr>
            <a:lvl5pPr marL="4276725" indent="0">
              <a:buNone/>
              <a:defRPr sz="2340"/>
            </a:lvl5pPr>
            <a:lvl6pPr marL="5346065" indent="0">
              <a:buNone/>
              <a:defRPr sz="2340"/>
            </a:lvl6pPr>
            <a:lvl7pPr marL="6414770" indent="0">
              <a:buNone/>
              <a:defRPr sz="2340"/>
            </a:lvl7pPr>
            <a:lvl8pPr marL="7484110" indent="0">
              <a:buNone/>
              <a:defRPr sz="2340"/>
            </a:lvl8pPr>
            <a:lvl9pPr marL="8553450" indent="0">
              <a:buNone/>
              <a:defRPr sz="234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5"/>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5"/>
            </a:lvl1pPr>
            <a:lvl2pPr marL="1069340" indent="0">
              <a:buNone/>
              <a:defRPr sz="6550"/>
            </a:lvl2pPr>
            <a:lvl3pPr marL="2138045" indent="0">
              <a:buNone/>
              <a:defRPr sz="5610"/>
            </a:lvl3pPr>
            <a:lvl4pPr marL="3207385" indent="0">
              <a:buNone/>
              <a:defRPr sz="4675"/>
            </a:lvl4pPr>
            <a:lvl5pPr marL="4276725" indent="0">
              <a:buNone/>
              <a:defRPr sz="4675"/>
            </a:lvl5pPr>
            <a:lvl6pPr marL="5346065" indent="0">
              <a:buNone/>
              <a:defRPr sz="4675"/>
            </a:lvl6pPr>
            <a:lvl7pPr marL="6414770" indent="0">
              <a:buNone/>
              <a:defRPr sz="4675"/>
            </a:lvl7pPr>
            <a:lvl8pPr marL="7484110" indent="0">
              <a:buNone/>
              <a:defRPr sz="4675"/>
            </a:lvl8pPr>
            <a:lvl9pPr marL="8553450" indent="0">
              <a:buNone/>
              <a:defRPr sz="4675"/>
            </a:lvl9pPr>
          </a:lstStyle>
          <a:p>
            <a:r>
              <a:rPr lang="zh-CN" altLang="en-US"/>
              <a:t>单击图标添加图片</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0"/>
            </a:lvl1pPr>
            <a:lvl2pPr marL="1069340" indent="0">
              <a:buNone/>
              <a:defRPr sz="3275"/>
            </a:lvl2pPr>
            <a:lvl3pPr marL="2138045" indent="0">
              <a:buNone/>
              <a:defRPr sz="2805"/>
            </a:lvl3pPr>
            <a:lvl4pPr marL="3207385" indent="0">
              <a:buNone/>
              <a:defRPr sz="2340"/>
            </a:lvl4pPr>
            <a:lvl5pPr marL="4276725" indent="0">
              <a:buNone/>
              <a:defRPr sz="2340"/>
            </a:lvl5pPr>
            <a:lvl6pPr marL="5346065" indent="0">
              <a:buNone/>
              <a:defRPr sz="2340"/>
            </a:lvl6pPr>
            <a:lvl7pPr marL="6414770" indent="0">
              <a:buNone/>
              <a:defRPr sz="2340"/>
            </a:lvl7pPr>
            <a:lvl8pPr marL="7484110" indent="0">
              <a:buNone/>
              <a:defRPr sz="2340"/>
            </a:lvl8pPr>
            <a:lvl9pPr marL="8553450" indent="0">
              <a:buNone/>
              <a:defRPr sz="234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5">
                <a:solidFill>
                  <a:schemeClr val="tx1">
                    <a:tint val="75000"/>
                  </a:schemeClr>
                </a:solidFill>
              </a:defRPr>
            </a:lvl1p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5">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5">
                <a:solidFill>
                  <a:schemeClr val="tx1">
                    <a:tint val="75000"/>
                  </a:schemeClr>
                </a:solidFill>
              </a:defRPr>
            </a:lvl1pPr>
          </a:lstStyle>
          <a:p>
            <a:fld id="{702C3444-A0A2-4B59-9837-06A377E1B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2138045" rtl="0" eaLnBrk="1" latinLnBrk="0" hangingPunct="1">
        <a:lnSpc>
          <a:spcPct val="90000"/>
        </a:lnSpc>
        <a:spcBef>
          <a:spcPct val="0"/>
        </a:spcBef>
        <a:buNone/>
        <a:defRPr sz="10290" kern="1200">
          <a:solidFill>
            <a:schemeClr val="tx1"/>
          </a:solidFill>
          <a:latin typeface="+mj-lt"/>
          <a:ea typeface="+mj-ea"/>
          <a:cs typeface="+mj-cs"/>
        </a:defRPr>
      </a:lvl1pPr>
    </p:titleStyle>
    <p:bodyStyle>
      <a:lvl1pPr marL="534670" indent="-534670" algn="l" defTabSz="2138045" rtl="0" eaLnBrk="1" latinLnBrk="0" hangingPunct="1">
        <a:lnSpc>
          <a:spcPct val="90000"/>
        </a:lnSpc>
        <a:spcBef>
          <a:spcPts val="2340"/>
        </a:spcBef>
        <a:buFont typeface="Arial" panose="020B0604020202020204" pitchFamily="34" charset="0"/>
        <a:buChar char="•"/>
        <a:defRPr sz="6550" kern="1200">
          <a:solidFill>
            <a:schemeClr val="tx1"/>
          </a:solidFill>
          <a:latin typeface="+mn-lt"/>
          <a:ea typeface="+mn-ea"/>
          <a:cs typeface="+mn-cs"/>
        </a:defRPr>
      </a:lvl1pPr>
      <a:lvl2pPr marL="1604010" indent="-534670" algn="l" defTabSz="2138045" rtl="0" eaLnBrk="1" latinLnBrk="0" hangingPunct="1">
        <a:lnSpc>
          <a:spcPct val="90000"/>
        </a:lnSpc>
        <a:spcBef>
          <a:spcPts val="1170"/>
        </a:spcBef>
        <a:buFont typeface="Arial" panose="020B0604020202020204" pitchFamily="34" charset="0"/>
        <a:buChar char="•"/>
        <a:defRPr sz="5610" kern="1200">
          <a:solidFill>
            <a:schemeClr val="tx1"/>
          </a:solidFill>
          <a:latin typeface="+mn-lt"/>
          <a:ea typeface="+mn-ea"/>
          <a:cs typeface="+mn-cs"/>
        </a:defRPr>
      </a:lvl2pPr>
      <a:lvl3pPr marL="2672715" indent="-534670" algn="l" defTabSz="2138045" rtl="0" eaLnBrk="1" latinLnBrk="0" hangingPunct="1">
        <a:lnSpc>
          <a:spcPct val="90000"/>
        </a:lnSpc>
        <a:spcBef>
          <a:spcPts val="1170"/>
        </a:spcBef>
        <a:buFont typeface="Arial" panose="020B0604020202020204" pitchFamily="34" charset="0"/>
        <a:buChar char="•"/>
        <a:defRPr sz="4675" kern="1200">
          <a:solidFill>
            <a:schemeClr val="tx1"/>
          </a:solidFill>
          <a:latin typeface="+mn-lt"/>
          <a:ea typeface="+mn-ea"/>
          <a:cs typeface="+mn-cs"/>
        </a:defRPr>
      </a:lvl3pPr>
      <a:lvl4pPr marL="3742055"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4pPr>
      <a:lvl5pPr marL="4811395"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5pPr>
      <a:lvl6pPr marL="588010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6pPr>
      <a:lvl7pPr marL="694944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7pPr>
      <a:lvl8pPr marL="801878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8pPr>
      <a:lvl9pPr marL="908812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9pPr>
    </p:bodyStyle>
    <p:otherStyle>
      <a:defPPr>
        <a:defRPr lang="en-US"/>
      </a:defPPr>
      <a:lvl1pPr marL="0" algn="l" defTabSz="2138045" rtl="0" eaLnBrk="1" latinLnBrk="0" hangingPunct="1">
        <a:defRPr sz="4210" kern="1200">
          <a:solidFill>
            <a:schemeClr val="tx1"/>
          </a:solidFill>
          <a:latin typeface="+mn-lt"/>
          <a:ea typeface="+mn-ea"/>
          <a:cs typeface="+mn-cs"/>
        </a:defRPr>
      </a:lvl1pPr>
      <a:lvl2pPr marL="1069340" algn="l" defTabSz="2138045" rtl="0" eaLnBrk="1" latinLnBrk="0" hangingPunct="1">
        <a:defRPr sz="4210" kern="1200">
          <a:solidFill>
            <a:schemeClr val="tx1"/>
          </a:solidFill>
          <a:latin typeface="+mn-lt"/>
          <a:ea typeface="+mn-ea"/>
          <a:cs typeface="+mn-cs"/>
        </a:defRPr>
      </a:lvl2pPr>
      <a:lvl3pPr marL="2138045" algn="l" defTabSz="2138045" rtl="0" eaLnBrk="1" latinLnBrk="0" hangingPunct="1">
        <a:defRPr sz="4210" kern="1200">
          <a:solidFill>
            <a:schemeClr val="tx1"/>
          </a:solidFill>
          <a:latin typeface="+mn-lt"/>
          <a:ea typeface="+mn-ea"/>
          <a:cs typeface="+mn-cs"/>
        </a:defRPr>
      </a:lvl3pPr>
      <a:lvl4pPr marL="3207385" algn="l" defTabSz="2138045" rtl="0" eaLnBrk="1" latinLnBrk="0" hangingPunct="1">
        <a:defRPr sz="4210" kern="1200">
          <a:solidFill>
            <a:schemeClr val="tx1"/>
          </a:solidFill>
          <a:latin typeface="+mn-lt"/>
          <a:ea typeface="+mn-ea"/>
          <a:cs typeface="+mn-cs"/>
        </a:defRPr>
      </a:lvl4pPr>
      <a:lvl5pPr marL="4276725" algn="l" defTabSz="2138045" rtl="0" eaLnBrk="1" latinLnBrk="0" hangingPunct="1">
        <a:defRPr sz="4210" kern="1200">
          <a:solidFill>
            <a:schemeClr val="tx1"/>
          </a:solidFill>
          <a:latin typeface="+mn-lt"/>
          <a:ea typeface="+mn-ea"/>
          <a:cs typeface="+mn-cs"/>
        </a:defRPr>
      </a:lvl5pPr>
      <a:lvl6pPr marL="5346065" algn="l" defTabSz="2138045" rtl="0" eaLnBrk="1" latinLnBrk="0" hangingPunct="1">
        <a:defRPr sz="4210" kern="1200">
          <a:solidFill>
            <a:schemeClr val="tx1"/>
          </a:solidFill>
          <a:latin typeface="+mn-lt"/>
          <a:ea typeface="+mn-ea"/>
          <a:cs typeface="+mn-cs"/>
        </a:defRPr>
      </a:lvl6pPr>
      <a:lvl7pPr marL="6414770" algn="l" defTabSz="2138045" rtl="0" eaLnBrk="1" latinLnBrk="0" hangingPunct="1">
        <a:defRPr sz="4210" kern="1200">
          <a:solidFill>
            <a:schemeClr val="tx1"/>
          </a:solidFill>
          <a:latin typeface="+mn-lt"/>
          <a:ea typeface="+mn-ea"/>
          <a:cs typeface="+mn-cs"/>
        </a:defRPr>
      </a:lvl7pPr>
      <a:lvl8pPr marL="7484110" algn="l" defTabSz="2138045" rtl="0" eaLnBrk="1" latinLnBrk="0" hangingPunct="1">
        <a:defRPr sz="4210" kern="1200">
          <a:solidFill>
            <a:schemeClr val="tx1"/>
          </a:solidFill>
          <a:latin typeface="+mn-lt"/>
          <a:ea typeface="+mn-ea"/>
          <a:cs typeface="+mn-cs"/>
        </a:defRPr>
      </a:lvl8pPr>
      <a:lvl9pPr marL="8553450" algn="l" defTabSz="2138045" rtl="0" eaLnBrk="1" latinLnBrk="0" hangingPunct="1">
        <a:defRPr sz="42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image" Target="../media/image4.png"/><Relationship Id="rId6" Type="http://schemas.openxmlformats.org/officeDocument/2006/relationships/image" Target="../media/image3.emf"/><Relationship Id="rId5" Type="http://schemas.openxmlformats.org/officeDocument/2006/relationships/tags" Target="../tags/tag3.xml"/><Relationship Id="rId4" Type="http://schemas.openxmlformats.org/officeDocument/2006/relationships/image" Target="../media/image2.png"/><Relationship Id="rId31" Type="http://schemas.openxmlformats.org/officeDocument/2006/relationships/notesSlide" Target="../notesSlides/notesSlide1.xml"/><Relationship Id="rId30" Type="http://schemas.openxmlformats.org/officeDocument/2006/relationships/slideLayout" Target="../slideLayouts/slideLayout12.xml"/><Relationship Id="rId3" Type="http://schemas.openxmlformats.org/officeDocument/2006/relationships/tags" Target="../tags/tag2.xml"/><Relationship Id="rId29" Type="http://schemas.openxmlformats.org/officeDocument/2006/relationships/tags" Target="../tags/tag14.xml"/><Relationship Id="rId28" Type="http://schemas.openxmlformats.org/officeDocument/2006/relationships/image" Target="../media/image15.png"/><Relationship Id="rId27" Type="http://schemas.openxmlformats.org/officeDocument/2006/relationships/image" Target="../media/image14.png"/><Relationship Id="rId26" Type="http://schemas.openxmlformats.org/officeDocument/2006/relationships/tags" Target="../tags/tag13.xml"/><Relationship Id="rId25" Type="http://schemas.openxmlformats.org/officeDocument/2006/relationships/tags" Target="../tags/tag12.xml"/><Relationship Id="rId24" Type="http://schemas.openxmlformats.org/officeDocument/2006/relationships/tags" Target="../tags/tag11.xml"/><Relationship Id="rId23" Type="http://schemas.openxmlformats.org/officeDocument/2006/relationships/image" Target="../media/image13.png"/><Relationship Id="rId22" Type="http://schemas.openxmlformats.org/officeDocument/2006/relationships/tags" Target="../tags/tag10.xml"/><Relationship Id="rId21" Type="http://schemas.openxmlformats.org/officeDocument/2006/relationships/image" Target="../media/image12.png"/><Relationship Id="rId20" Type="http://schemas.openxmlformats.org/officeDocument/2006/relationships/image" Target="../media/image11.png"/><Relationship Id="rId2" Type="http://schemas.openxmlformats.org/officeDocument/2006/relationships/tags" Target="../tags/tag1.xml"/><Relationship Id="rId19" Type="http://schemas.openxmlformats.org/officeDocument/2006/relationships/tags" Target="../tags/tag9.xml"/><Relationship Id="rId18" Type="http://schemas.openxmlformats.org/officeDocument/2006/relationships/tags" Target="../tags/tag8.xml"/><Relationship Id="rId17" Type="http://schemas.openxmlformats.org/officeDocument/2006/relationships/tags" Target="../tags/tag7.xml"/><Relationship Id="rId16" Type="http://schemas.openxmlformats.org/officeDocument/2006/relationships/image" Target="../media/image10.png"/><Relationship Id="rId15" Type="http://schemas.openxmlformats.org/officeDocument/2006/relationships/image" Target="../media/image9.png"/><Relationship Id="rId14" Type="http://schemas.openxmlformats.org/officeDocument/2006/relationships/tags" Target="../tags/tag6.xml"/><Relationship Id="rId13" Type="http://schemas.openxmlformats.org/officeDocument/2006/relationships/image" Target="../media/image8.png"/><Relationship Id="rId12" Type="http://schemas.openxmlformats.org/officeDocument/2006/relationships/image" Target="../media/image7.png"/><Relationship Id="rId11" Type="http://schemas.openxmlformats.org/officeDocument/2006/relationships/image" Target="../media/image6.png"/><Relationship Id="rId10" Type="http://schemas.openxmlformats.org/officeDocument/2006/relationships/image" Target="../media/image5.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198128" y="1924612"/>
            <a:ext cx="20633235" cy="1409493"/>
          </a:xfrm>
          <a:prstGeom prst="rect">
            <a:avLst/>
          </a:prstGeom>
        </p:spPr>
        <p:txBody>
          <a:bodyPr vert="horz" wrap="square" lIns="0" tIns="324172" rIns="0" bIns="0" rtlCol="0">
            <a:spAutoFit/>
          </a:bodyPr>
          <a:lstStyle/>
          <a:p>
            <a:pPr marL="328930">
              <a:lnSpc>
                <a:spcPts val="2710"/>
              </a:lnSpc>
              <a:spcBef>
                <a:spcPts val="2555"/>
              </a:spcBef>
              <a:tabLst>
                <a:tab pos="5716270" algn="l"/>
                <a:tab pos="10572750" algn="l"/>
                <a:tab pos="15449550" algn="l"/>
                <a:tab pos="18323560" algn="l"/>
              </a:tabLst>
            </a:pPr>
            <a:r>
              <a:rPr sz="4745" b="1" spc="33" baseline="1000" dirty="0">
                <a:solidFill>
                  <a:srgbClr val="000543"/>
                </a:solidFill>
                <a:latin typeface="Calibri" panose="020F0502020204030204"/>
                <a:cs typeface="Calibri" panose="020F0502020204030204"/>
              </a:rPr>
              <a:t>SURF</a:t>
            </a:r>
            <a:r>
              <a:rPr sz="4745" b="1" spc="23" baseline="1000" dirty="0">
                <a:solidFill>
                  <a:srgbClr val="000543"/>
                </a:solidFill>
                <a:latin typeface="Calibri" panose="020F0502020204030204"/>
                <a:cs typeface="Calibri" panose="020F0502020204030204"/>
              </a:rPr>
              <a:t> </a:t>
            </a:r>
            <a:r>
              <a:rPr sz="4745" b="1" baseline="1000" dirty="0">
                <a:solidFill>
                  <a:srgbClr val="000543"/>
                </a:solidFill>
                <a:latin typeface="Calibri" panose="020F0502020204030204"/>
                <a:cs typeface="Calibri" panose="020F0502020204030204"/>
              </a:rPr>
              <a:t>PROJECT</a:t>
            </a:r>
            <a:r>
              <a:rPr sz="4745" b="1" spc="45" baseline="1000" dirty="0">
                <a:solidFill>
                  <a:srgbClr val="000543"/>
                </a:solidFill>
                <a:latin typeface="Calibri" panose="020F0502020204030204"/>
                <a:cs typeface="Calibri" panose="020F0502020204030204"/>
              </a:rPr>
              <a:t> </a:t>
            </a:r>
            <a:r>
              <a:rPr sz="4745" b="1" spc="11" baseline="1000" dirty="0">
                <a:solidFill>
                  <a:srgbClr val="000543"/>
                </a:solidFill>
                <a:latin typeface="Calibri" panose="020F0502020204030204"/>
                <a:cs typeface="Calibri" panose="020F0502020204030204"/>
              </a:rPr>
              <a:t>CODE:</a:t>
            </a:r>
            <a:r>
              <a:rPr sz="4745" b="1" spc="33" baseline="1000" dirty="0">
                <a:solidFill>
                  <a:srgbClr val="000543"/>
                </a:solidFill>
                <a:latin typeface="Calibri" panose="020F0502020204030204"/>
                <a:cs typeface="Calibri" panose="020F0502020204030204"/>
              </a:rPr>
              <a:t> </a:t>
            </a:r>
            <a:r>
              <a:rPr sz="4745" b="1" spc="23" baseline="1000" dirty="0">
                <a:solidFill>
                  <a:srgbClr val="000543"/>
                </a:solidFill>
                <a:latin typeface="Calibri" panose="020F0502020204030204"/>
                <a:cs typeface="Calibri" panose="020F0502020204030204"/>
              </a:rPr>
              <a:t>202</a:t>
            </a:r>
            <a:r>
              <a:rPr lang="en-US" sz="4745" b="1" spc="23" baseline="1000" dirty="0">
                <a:solidFill>
                  <a:srgbClr val="000543"/>
                </a:solidFill>
                <a:latin typeface="Calibri" panose="020F0502020204030204"/>
                <a:cs typeface="Calibri" panose="020F0502020204030204"/>
              </a:rPr>
              <a:t>30043                  </a:t>
            </a:r>
            <a:r>
              <a:rPr sz="4745" b="1" spc="23" baseline="1000" dirty="0">
                <a:solidFill>
                  <a:srgbClr val="000543"/>
                </a:solidFill>
                <a:latin typeface="Calibri" panose="020F0502020204030204"/>
                <a:cs typeface="Calibri" panose="020F0502020204030204"/>
              </a:rPr>
              <a:t>	</a:t>
            </a:r>
            <a:r>
              <a:rPr sz="3990" b="1" spc="-8" dirty="0">
                <a:latin typeface="Calibri" panose="020F0502020204030204"/>
                <a:cs typeface="Calibri" panose="020F0502020204030204"/>
              </a:rPr>
              <a:t>Supervisors:</a:t>
            </a:r>
            <a:r>
              <a:rPr sz="3990" b="1" spc="30" dirty="0">
                <a:latin typeface="Calibri" panose="020F0502020204030204"/>
                <a:cs typeface="Calibri" panose="020F0502020204030204"/>
              </a:rPr>
              <a:t> </a:t>
            </a:r>
            <a:r>
              <a:rPr lang="en-US" sz="3990" b="1" spc="30" dirty="0" err="1">
                <a:latin typeface="Calibri" panose="020F0502020204030204"/>
                <a:cs typeface="Calibri" panose="020F0502020204030204"/>
              </a:rPr>
              <a:t>C</a:t>
            </a:r>
            <a:r>
              <a:rPr lang="en-US" altLang="zh-CN" sz="3990" b="1" spc="30" dirty="0" err="1">
                <a:latin typeface="Calibri" panose="020F0502020204030204"/>
                <a:cs typeface="Calibri" panose="020F0502020204030204"/>
              </a:rPr>
              <a:t>hunchuan</a:t>
            </a:r>
            <a:r>
              <a:rPr lang="en-US" altLang="zh-CN" sz="3990" b="1" spc="30" dirty="0">
                <a:latin typeface="Calibri" panose="020F0502020204030204"/>
                <a:cs typeface="Calibri" panose="020F0502020204030204"/>
              </a:rPr>
              <a:t> Lyu </a:t>
            </a:r>
            <a:endParaRPr lang="en-US" altLang="zh-CN" sz="3990" b="1" spc="30" dirty="0">
              <a:latin typeface="Calibri" panose="020F0502020204030204"/>
              <a:cs typeface="Calibri" panose="020F0502020204030204"/>
            </a:endParaRPr>
          </a:p>
          <a:p>
            <a:pPr marL="328930" algn="r">
              <a:lnSpc>
                <a:spcPts val="2710"/>
              </a:lnSpc>
              <a:spcBef>
                <a:spcPts val="2555"/>
              </a:spcBef>
              <a:tabLst>
                <a:tab pos="5716270" algn="l"/>
                <a:tab pos="10572750" algn="l"/>
                <a:tab pos="15449550" algn="l"/>
                <a:tab pos="18323560" algn="l"/>
              </a:tabLst>
            </a:pPr>
            <a:r>
              <a:rPr sz="3990" b="1" spc="-8" dirty="0">
                <a:latin typeface="Calibri" panose="020F0502020204030204"/>
                <a:cs typeface="Calibri" panose="020F0502020204030204"/>
              </a:rPr>
              <a:t>Authors:</a:t>
            </a:r>
            <a:r>
              <a:rPr sz="3990" b="1" spc="38" dirty="0">
                <a:latin typeface="Calibri" panose="020F0502020204030204"/>
                <a:cs typeface="Calibri" panose="020F0502020204030204"/>
              </a:rPr>
              <a:t> </a:t>
            </a:r>
            <a:r>
              <a:rPr lang="en-GB" altLang="zh-CN" sz="4215" b="1" dirty="0" err="1"/>
              <a:t>Zhaohui</a:t>
            </a:r>
            <a:r>
              <a:rPr lang="en-GB" altLang="zh-CN" sz="4215" b="1" dirty="0"/>
              <a:t> Yang, </a:t>
            </a:r>
            <a:r>
              <a:rPr lang="en-GB" altLang="zh-CN" sz="4215" b="1" dirty="0" err="1"/>
              <a:t>Jieran</a:t>
            </a:r>
            <a:r>
              <a:rPr lang="en-GB" altLang="zh-CN" sz="4215" b="1" dirty="0"/>
              <a:t> He, </a:t>
            </a:r>
            <a:r>
              <a:rPr lang="en-GB" altLang="zh-CN" sz="4215" b="1" dirty="0" err="1"/>
              <a:t>Zichen</a:t>
            </a:r>
            <a:r>
              <a:rPr lang="en-GB" altLang="zh-CN" sz="4215" b="1" dirty="0"/>
              <a:t> Qiu, </a:t>
            </a:r>
            <a:r>
              <a:rPr lang="en-GB" altLang="zh-CN" sz="4215" b="1" dirty="0" err="1"/>
              <a:t>Yanzhuo</a:t>
            </a:r>
            <a:r>
              <a:rPr lang="en-GB" altLang="zh-CN" sz="4215" b="1" dirty="0"/>
              <a:t> Jin,  Xu Chen</a:t>
            </a:r>
            <a:endParaRPr lang="zh-CN" altLang="en-US" sz="4215" b="1" dirty="0"/>
          </a:p>
        </p:txBody>
      </p:sp>
      <p:sp>
        <p:nvSpPr>
          <p:cNvPr id="120" name="object 23"/>
          <p:cNvSpPr txBox="1"/>
          <p:nvPr/>
        </p:nvSpPr>
        <p:spPr>
          <a:xfrm>
            <a:off x="142520" y="2827214"/>
            <a:ext cx="2297894" cy="448984"/>
          </a:xfrm>
          <a:prstGeom prst="rect">
            <a:avLst/>
          </a:prstGeom>
        </p:spPr>
        <p:txBody>
          <a:bodyPr vert="horz" wrap="square" lIns="0" tIns="20081" rIns="0" bIns="0" rtlCol="0">
            <a:spAutoFit/>
          </a:bodyPr>
          <a:lstStyle/>
          <a:p>
            <a:pPr marL="19050">
              <a:spcBef>
                <a:spcPts val="160"/>
              </a:spcBef>
            </a:pPr>
            <a:r>
              <a:rPr lang="en-US" sz="2785" b="1" spc="-8" dirty="0">
                <a:latin typeface="Tahoma" panose="020B0604030504040204"/>
                <a:cs typeface="Tahoma" panose="020B0604030504040204"/>
              </a:rPr>
              <a:t>Abstract</a:t>
            </a:r>
            <a:endParaRPr sz="2785" dirty="0">
              <a:latin typeface="Tahoma" panose="020B0604030504040204"/>
              <a:cs typeface="Tahoma" panose="020B0604030504040204"/>
            </a:endParaRPr>
          </a:p>
        </p:txBody>
      </p:sp>
      <p:sp>
        <p:nvSpPr>
          <p:cNvPr id="135" name="矩形 134"/>
          <p:cNvSpPr/>
          <p:nvPr/>
        </p:nvSpPr>
        <p:spPr>
          <a:xfrm>
            <a:off x="-50072" y="-468568"/>
            <a:ext cx="21433535" cy="30743780"/>
          </a:xfrm>
          <a:prstGeom prst="rect">
            <a:avLst/>
          </a:prstGeom>
          <a:solidFill>
            <a:srgbClr val="202475"/>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dirty="0"/>
          </a:p>
        </p:txBody>
      </p:sp>
      <p:grpSp>
        <p:nvGrpSpPr>
          <p:cNvPr id="137" name="组合 136"/>
          <p:cNvGrpSpPr/>
          <p:nvPr/>
        </p:nvGrpSpPr>
        <p:grpSpPr>
          <a:xfrm>
            <a:off x="-66492" y="-200684"/>
            <a:ext cx="21433535" cy="3474180"/>
            <a:chOff x="-9633831" y="3455818"/>
            <a:chExt cx="14232829" cy="2307011"/>
          </a:xfrm>
        </p:grpSpPr>
        <p:sp>
          <p:nvSpPr>
            <p:cNvPr id="136" name="矩形 135"/>
            <p:cNvSpPr/>
            <p:nvPr/>
          </p:nvSpPr>
          <p:spPr>
            <a:xfrm>
              <a:off x="-9633831" y="5555249"/>
              <a:ext cx="14232829" cy="207580"/>
            </a:xfrm>
            <a:prstGeom prst="rect">
              <a:avLst/>
            </a:prstGeom>
            <a:solidFill>
              <a:srgbClr val="1361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pic>
          <p:nvPicPr>
            <p:cNvPr id="5" name="object 5"/>
            <p:cNvPicPr/>
            <p:nvPr/>
          </p:nvPicPr>
          <p:blipFill rotWithShape="1">
            <a:blip r:embed="rId1" cstate="print"/>
            <a:srcRect b="47377"/>
            <a:stretch>
              <a:fillRect/>
            </a:stretch>
          </p:blipFill>
          <p:spPr>
            <a:xfrm>
              <a:off x="-9305773" y="3455818"/>
              <a:ext cx="4991290" cy="1876003"/>
            </a:xfrm>
            <a:prstGeom prst="rect">
              <a:avLst/>
            </a:prstGeom>
            <a:solidFill>
              <a:schemeClr val="bg1"/>
            </a:solidFill>
          </p:spPr>
        </p:pic>
      </p:grpSp>
      <p:sp>
        <p:nvSpPr>
          <p:cNvPr id="119" name="文本框 118"/>
          <p:cNvSpPr txBox="1"/>
          <p:nvPr/>
        </p:nvSpPr>
        <p:spPr>
          <a:xfrm>
            <a:off x="7943486" y="-52070"/>
            <a:ext cx="13236939" cy="2676525"/>
          </a:xfrm>
          <a:prstGeom prst="rect">
            <a:avLst/>
          </a:prstGeom>
          <a:noFill/>
        </p:spPr>
        <p:txBody>
          <a:bodyPr wrap="square" rtlCol="0">
            <a:spAutoFit/>
          </a:bodyPr>
          <a:lstStyle/>
          <a:p>
            <a:pPr algn="ctr"/>
            <a:r>
              <a:rPr lang="en-US" altLang="zh-CN" sz="5400" b="1" i="1" dirty="0">
                <a:solidFill>
                  <a:schemeClr val="bg1"/>
                </a:solidFill>
                <a:latin typeface="Segoe UI Black" panose="020B0A02040204020203" pitchFamily="34" charset="0"/>
                <a:ea typeface="Segoe UI Black" panose="020B0A02040204020203" pitchFamily="34" charset="0"/>
                <a:sym typeface="+mn-ea"/>
              </a:rPr>
              <a:t>Leveraging Large Language Models for Specification Decomposition in Cod</a:t>
            </a:r>
            <a:r>
              <a:rPr lang="en-US" altLang="zh-CN" sz="6000" b="1" i="1" dirty="0">
                <a:solidFill>
                  <a:schemeClr val="bg1"/>
                </a:solidFill>
                <a:latin typeface="Segoe UI Black" panose="020B0A02040204020203" pitchFamily="34" charset="0"/>
                <a:ea typeface="Segoe UI Black" panose="020B0A02040204020203" pitchFamily="34" charset="0"/>
                <a:sym typeface="+mn-ea"/>
              </a:rPr>
              <a:t>e Generation</a:t>
            </a:r>
            <a:endParaRPr lang="zh-CN" altLang="en-US" sz="6000" b="1" i="1" dirty="0">
              <a:solidFill>
                <a:schemeClr val="bg1"/>
              </a:solidFill>
            </a:endParaRPr>
          </a:p>
        </p:txBody>
      </p:sp>
      <p:sp>
        <p:nvSpPr>
          <p:cNvPr id="2" name="object 9"/>
          <p:cNvSpPr txBox="1"/>
          <p:nvPr/>
        </p:nvSpPr>
        <p:spPr>
          <a:xfrm>
            <a:off x="6063728" y="2663369"/>
            <a:ext cx="15713100" cy="671195"/>
          </a:xfrm>
          <a:prstGeom prst="rect">
            <a:avLst/>
          </a:prstGeom>
        </p:spPr>
        <p:txBody>
          <a:bodyPr vert="horz" wrap="square" lIns="0" tIns="324172" rIns="0" bIns="0" rtlCol="0">
            <a:spAutoFit/>
          </a:bodyPr>
          <a:lstStyle/>
          <a:p>
            <a:pPr marL="328930">
              <a:lnSpc>
                <a:spcPts val="2710"/>
              </a:lnSpc>
              <a:spcBef>
                <a:spcPts val="2555"/>
              </a:spcBef>
              <a:tabLst>
                <a:tab pos="5716270" algn="l"/>
                <a:tab pos="10572750" algn="l"/>
                <a:tab pos="15449550" algn="l"/>
                <a:tab pos="18323560" algn="l"/>
              </a:tabLst>
            </a:pPr>
            <a:r>
              <a:rPr lang="en-GB" sz="2710" b="1" i="1" spc="-8" dirty="0">
                <a:solidFill>
                  <a:schemeClr val="bg1"/>
                </a:solidFill>
                <a:latin typeface="Calibri" panose="020F0502020204030204"/>
                <a:cs typeface="Calibri" panose="020F0502020204030204"/>
              </a:rPr>
              <a:t>Supervisors:</a:t>
            </a:r>
            <a:r>
              <a:rPr lang="en-GB" sz="2710" b="1" i="1" spc="30" dirty="0">
                <a:solidFill>
                  <a:schemeClr val="bg1"/>
                </a:solidFill>
                <a:latin typeface="Calibri" panose="020F0502020204030204"/>
                <a:cs typeface="Calibri" panose="020F0502020204030204"/>
              </a:rPr>
              <a:t> </a:t>
            </a:r>
            <a:r>
              <a:rPr lang="en-GB" sz="2710" b="1" i="1" spc="30" dirty="0" err="1">
                <a:solidFill>
                  <a:schemeClr val="bg1"/>
                </a:solidFill>
                <a:latin typeface="Calibri" panose="020F0502020204030204"/>
                <a:cs typeface="Calibri" panose="020F0502020204030204"/>
              </a:rPr>
              <a:t>C</a:t>
            </a:r>
            <a:r>
              <a:rPr lang="en-GB" altLang="zh-CN" sz="2710" b="1" i="1" spc="30" dirty="0" err="1">
                <a:solidFill>
                  <a:schemeClr val="bg1"/>
                </a:solidFill>
                <a:latin typeface="Calibri" panose="020F0502020204030204"/>
                <a:cs typeface="Calibri" panose="020F0502020204030204"/>
              </a:rPr>
              <a:t>hunchuan</a:t>
            </a:r>
            <a:r>
              <a:rPr lang="en-US" altLang="en-GB" sz="2710" b="1" i="1" spc="30" dirty="0" err="1">
                <a:solidFill>
                  <a:schemeClr val="bg1"/>
                </a:solidFill>
                <a:latin typeface="Calibri" panose="020F0502020204030204"/>
                <a:cs typeface="Calibri" panose="020F0502020204030204"/>
              </a:rPr>
              <a:t>  </a:t>
            </a:r>
            <a:r>
              <a:rPr lang="en-GB" altLang="zh-CN" sz="2710" b="1" i="1" spc="30" dirty="0">
                <a:solidFill>
                  <a:schemeClr val="bg1"/>
                </a:solidFill>
                <a:latin typeface="Calibri" panose="020F0502020204030204"/>
                <a:cs typeface="Calibri" panose="020F0502020204030204"/>
              </a:rPr>
              <a:t>Lyu   </a:t>
            </a:r>
            <a:r>
              <a:rPr lang="en-US" altLang="en-GB" sz="2710" b="1" i="1" spc="30" dirty="0">
                <a:solidFill>
                  <a:schemeClr val="bg1"/>
                </a:solidFill>
                <a:latin typeface="Calibri" panose="020F0502020204030204"/>
                <a:cs typeface="Calibri" panose="020F0502020204030204"/>
              </a:rPr>
              <a:t>  </a:t>
            </a:r>
            <a:r>
              <a:rPr lang="en-GB" sz="2710" b="1" i="1" spc="-8" dirty="0">
                <a:solidFill>
                  <a:schemeClr val="bg1"/>
                </a:solidFill>
                <a:latin typeface="Calibri" panose="020F0502020204030204"/>
                <a:cs typeface="Calibri" panose="020F0502020204030204"/>
              </a:rPr>
              <a:t>Authors:</a:t>
            </a:r>
            <a:r>
              <a:rPr lang="en-GB" sz="2710" b="1" i="1" spc="38" dirty="0">
                <a:solidFill>
                  <a:schemeClr val="bg1"/>
                </a:solidFill>
                <a:latin typeface="Calibri" panose="020F0502020204030204"/>
                <a:cs typeface="Calibri" panose="020F0502020204030204"/>
              </a:rPr>
              <a:t> </a:t>
            </a:r>
            <a:r>
              <a:rPr lang="en-GB" altLang="zh-CN" sz="2710" b="1" i="1" dirty="0">
                <a:solidFill>
                  <a:schemeClr val="bg1"/>
                </a:solidFill>
                <a:sym typeface="+mn-ea"/>
              </a:rPr>
              <a:t> </a:t>
            </a:r>
            <a:r>
              <a:rPr lang="en-GB" altLang="zh-CN" sz="2710" b="1" i="1" dirty="0" err="1">
                <a:solidFill>
                  <a:schemeClr val="bg1"/>
                </a:solidFill>
                <a:sym typeface="+mn-ea"/>
              </a:rPr>
              <a:t>Yanzhuo</a:t>
            </a:r>
            <a:r>
              <a:rPr lang="en-GB" altLang="zh-CN" sz="2710" b="1" i="1" dirty="0">
                <a:solidFill>
                  <a:schemeClr val="bg1"/>
                </a:solidFill>
                <a:sym typeface="+mn-ea"/>
              </a:rPr>
              <a:t> Jin,</a:t>
            </a:r>
            <a:r>
              <a:rPr lang="en-US" altLang="en-GB" sz="2710" b="1" i="1" dirty="0">
                <a:solidFill>
                  <a:schemeClr val="bg1"/>
                </a:solidFill>
                <a:sym typeface="+mn-ea"/>
              </a:rPr>
              <a:t> </a:t>
            </a:r>
            <a:r>
              <a:rPr lang="en-GB" altLang="zh-CN" sz="2710" b="1" i="1" dirty="0" err="1">
                <a:solidFill>
                  <a:schemeClr val="bg1"/>
                </a:solidFill>
              </a:rPr>
              <a:t>Zhaohui</a:t>
            </a:r>
            <a:r>
              <a:rPr lang="en-GB" altLang="zh-CN" sz="2710" b="1" i="1" dirty="0">
                <a:solidFill>
                  <a:schemeClr val="bg1"/>
                </a:solidFill>
              </a:rPr>
              <a:t> Yang,</a:t>
            </a:r>
            <a:r>
              <a:rPr lang="en-US" altLang="en-GB" sz="2710" b="1" i="1" dirty="0">
                <a:solidFill>
                  <a:schemeClr val="bg1"/>
                </a:solidFill>
              </a:rPr>
              <a:t> </a:t>
            </a:r>
            <a:r>
              <a:rPr lang="en-GB" altLang="zh-CN" sz="2710" b="1" i="1" dirty="0" err="1">
                <a:solidFill>
                  <a:schemeClr val="bg1"/>
                </a:solidFill>
              </a:rPr>
              <a:t>Jieran</a:t>
            </a:r>
            <a:r>
              <a:rPr lang="en-GB" altLang="zh-CN" sz="2710" b="1" i="1" dirty="0">
                <a:solidFill>
                  <a:schemeClr val="bg1"/>
                </a:solidFill>
              </a:rPr>
              <a:t> He, </a:t>
            </a:r>
            <a:r>
              <a:rPr lang="en-GB" altLang="zh-CN" sz="2710" b="1" i="1" dirty="0" err="1">
                <a:solidFill>
                  <a:schemeClr val="bg1"/>
                </a:solidFill>
              </a:rPr>
              <a:t>Zichen</a:t>
            </a:r>
            <a:r>
              <a:rPr lang="en-GB" altLang="zh-CN" sz="2710" b="1" i="1" dirty="0">
                <a:solidFill>
                  <a:schemeClr val="bg1"/>
                </a:solidFill>
              </a:rPr>
              <a:t> Qiu,</a:t>
            </a:r>
            <a:r>
              <a:rPr lang="en-US" altLang="en-GB" sz="2710" b="1" i="1" dirty="0">
                <a:solidFill>
                  <a:schemeClr val="bg1"/>
                </a:solidFill>
              </a:rPr>
              <a:t> </a:t>
            </a:r>
            <a:r>
              <a:rPr lang="en-GB" altLang="zh-CN" sz="2710" b="1" i="1" dirty="0">
                <a:solidFill>
                  <a:schemeClr val="bg1"/>
                </a:solidFill>
              </a:rPr>
              <a:t>Xu Chen</a:t>
            </a:r>
            <a:endParaRPr lang="en-GB" altLang="zh-CN" sz="2710" b="1" i="1" dirty="0">
              <a:solidFill>
                <a:schemeClr val="bg1"/>
              </a:solidFill>
            </a:endParaRPr>
          </a:p>
        </p:txBody>
      </p:sp>
      <p:sp>
        <p:nvSpPr>
          <p:cNvPr id="4" name="文本框 3"/>
          <p:cNvSpPr txBox="1"/>
          <p:nvPr/>
        </p:nvSpPr>
        <p:spPr>
          <a:xfrm>
            <a:off x="1291465" y="2317965"/>
            <a:ext cx="3932144" cy="509498"/>
          </a:xfrm>
          <a:prstGeom prst="rect">
            <a:avLst/>
          </a:prstGeom>
          <a:noFill/>
        </p:spPr>
        <p:txBody>
          <a:bodyPr wrap="square">
            <a:spAutoFit/>
          </a:bodyPr>
          <a:lstStyle/>
          <a:p>
            <a:r>
              <a:rPr lang="en-GB" altLang="zh-CN" sz="2710" b="1" spc="33" baseline="1000" dirty="0">
                <a:latin typeface="Calibri" panose="020F0502020204030204"/>
                <a:cs typeface="Calibri" panose="020F0502020204030204"/>
              </a:rPr>
              <a:t>SURF</a:t>
            </a:r>
            <a:r>
              <a:rPr lang="en-GB" altLang="zh-CN" sz="2710" b="1" spc="23" baseline="1000" dirty="0">
                <a:latin typeface="Calibri" panose="020F0502020204030204"/>
                <a:cs typeface="Calibri" panose="020F0502020204030204"/>
              </a:rPr>
              <a:t> </a:t>
            </a:r>
            <a:r>
              <a:rPr lang="en-GB" altLang="zh-CN" sz="2710" b="1" baseline="1000" dirty="0">
                <a:latin typeface="Calibri" panose="020F0502020204030204"/>
                <a:cs typeface="Calibri" panose="020F0502020204030204"/>
              </a:rPr>
              <a:t>PROJECT</a:t>
            </a:r>
            <a:r>
              <a:rPr lang="en-GB" altLang="zh-CN" sz="2710" b="1" spc="45" baseline="1000" dirty="0">
                <a:latin typeface="Calibri" panose="020F0502020204030204"/>
                <a:cs typeface="Calibri" panose="020F0502020204030204"/>
              </a:rPr>
              <a:t> </a:t>
            </a:r>
            <a:r>
              <a:rPr lang="en-GB" altLang="zh-CN" sz="2710" b="1" spc="11" baseline="1000" dirty="0">
                <a:latin typeface="Calibri" panose="020F0502020204030204"/>
                <a:cs typeface="Calibri" panose="020F0502020204030204"/>
              </a:rPr>
              <a:t>CODE:</a:t>
            </a:r>
            <a:r>
              <a:rPr lang="en-GB" altLang="zh-CN" sz="2710" b="1" spc="33" baseline="1000" dirty="0">
                <a:latin typeface="Calibri" panose="020F0502020204030204"/>
                <a:cs typeface="Calibri" panose="020F0502020204030204"/>
              </a:rPr>
              <a:t> </a:t>
            </a:r>
            <a:r>
              <a:rPr lang="en-GB" altLang="zh-CN" sz="2710" b="1" spc="23" baseline="1000" dirty="0">
                <a:latin typeface="Calibri" panose="020F0502020204030204"/>
                <a:cs typeface="Calibri" panose="020F0502020204030204"/>
              </a:rPr>
              <a:t>20230043 </a:t>
            </a:r>
            <a:endParaRPr lang="zh-CN" altLang="en-US" sz="2710" dirty="0"/>
          </a:p>
        </p:txBody>
      </p:sp>
      <p:sp>
        <p:nvSpPr>
          <p:cNvPr id="7" name="矩形 6"/>
          <p:cNvSpPr/>
          <p:nvPr/>
        </p:nvSpPr>
        <p:spPr>
          <a:xfrm>
            <a:off x="338455" y="3435985"/>
            <a:ext cx="20841335" cy="18738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sp>
        <p:nvSpPr>
          <p:cNvPr id="6" name="object 7"/>
          <p:cNvSpPr txBox="1"/>
          <p:nvPr/>
        </p:nvSpPr>
        <p:spPr>
          <a:xfrm>
            <a:off x="510540" y="3435985"/>
            <a:ext cx="20669885" cy="1730375"/>
          </a:xfrm>
          <a:prstGeom prst="rect">
            <a:avLst/>
          </a:prstGeom>
        </p:spPr>
        <p:txBody>
          <a:bodyPr vert="horz" wrap="square" lIns="0" tIns="21992" rIns="0" bIns="0" rtlCol="0">
            <a:spAutoFit/>
          </a:bodyPr>
          <a:lstStyle/>
          <a:p>
            <a:pPr marL="19050" marR="7620">
              <a:lnSpc>
                <a:spcPct val="101000"/>
              </a:lnSpc>
              <a:spcBef>
                <a:spcPts val="170"/>
              </a:spcBef>
            </a:pPr>
            <a:r>
              <a:rPr lang="en-US" altLang="zh-CN" sz="2200" i="1" dirty="0">
                <a:solidFill>
                  <a:srgbClr val="303030"/>
                </a:solidFill>
                <a:cs typeface="+mn-lt"/>
              </a:rPr>
              <a:t>Program synthesis generates computer programs based on given problem specifications. Large Language Models have been proven to be effective. However, models are still struggling to handle complicated tasks involving multiple steps. Recently, a multi-turn code generation benchmark has been proposed. They provide pre</a:t>
            </a:r>
            <a:r>
              <a:rPr lang="en-CA" altLang="zh-CN" sz="2200" i="1" dirty="0">
                <a:solidFill>
                  <a:srgbClr val="303030"/>
                </a:solidFill>
                <a:cs typeface="+mn-lt"/>
              </a:rPr>
              <a:t>-defined individual steps in natural language. Instead of starting from a pre-decomposed steps, we aim to automatically decompose the task into individual steps.</a:t>
            </a:r>
            <a:r>
              <a:rPr lang="en-US" altLang="zh-CN" sz="2200" i="1" dirty="0">
                <a:solidFill>
                  <a:srgbClr val="303030"/>
                </a:solidFill>
                <a:cs typeface="+mn-lt"/>
              </a:rPr>
              <a:t> We reverse-engineered the multi-turn benchmark to include a short summary instruction. We empirically examined the ability of current models to automatically decompose the summary specification and complete the task given the decomposed steps.</a:t>
            </a:r>
            <a:endParaRPr sz="2200" i="1" dirty="0">
              <a:cs typeface="+mn-lt"/>
            </a:endParaRPr>
          </a:p>
        </p:txBody>
      </p:sp>
      <p:sp>
        <p:nvSpPr>
          <p:cNvPr id="20" name="文本框 19"/>
          <p:cNvSpPr txBox="1"/>
          <p:nvPr/>
        </p:nvSpPr>
        <p:spPr>
          <a:xfrm>
            <a:off x="427940" y="2717916"/>
            <a:ext cx="2779621" cy="555858"/>
          </a:xfrm>
          <a:prstGeom prst="rect">
            <a:avLst/>
          </a:prstGeom>
          <a:noFill/>
        </p:spPr>
        <p:txBody>
          <a:bodyPr wrap="square" rtlCol="0">
            <a:spAutoFit/>
          </a:bodyPr>
          <a:lstStyle/>
          <a:p>
            <a:r>
              <a:rPr lang="en-US" altLang="zh-CN" sz="3010" b="1" i="1" dirty="0">
                <a:solidFill>
                  <a:schemeClr val="bg1"/>
                </a:solidFill>
                <a:latin typeface="Cascadia Code SemiBold" panose="020B0609020000020004" pitchFamily="49" charset="0"/>
                <a:ea typeface="Cascadia Code SemiBold" panose="020B0609020000020004" pitchFamily="49" charset="0"/>
                <a:cs typeface="Cascadia Code SemiBold" panose="020B0609020000020004" pitchFamily="49" charset="0"/>
              </a:rPr>
              <a:t>Abstract</a:t>
            </a:r>
            <a:endParaRPr lang="zh-CN" altLang="en-US" sz="3010" b="1" i="1" dirty="0">
              <a:solidFill>
                <a:schemeClr val="bg1"/>
              </a:solidFill>
              <a:latin typeface="Cascadia Code SemiBold" panose="020B0609020000020004" pitchFamily="49" charset="0"/>
              <a:cs typeface="Cascadia Code SemiBold" panose="020B0609020000020004" pitchFamily="49" charset="0"/>
            </a:endParaRPr>
          </a:p>
        </p:txBody>
      </p:sp>
      <p:sp>
        <p:nvSpPr>
          <p:cNvPr id="26" name="矩形 25"/>
          <p:cNvSpPr/>
          <p:nvPr/>
        </p:nvSpPr>
        <p:spPr>
          <a:xfrm>
            <a:off x="375285" y="9501505"/>
            <a:ext cx="7774305" cy="74936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dirty="0"/>
          </a:p>
        </p:txBody>
      </p:sp>
      <p:grpSp>
        <p:nvGrpSpPr>
          <p:cNvPr id="24" name="组合 23"/>
          <p:cNvGrpSpPr/>
          <p:nvPr/>
        </p:nvGrpSpPr>
        <p:grpSpPr>
          <a:xfrm>
            <a:off x="369382" y="5612130"/>
            <a:ext cx="7779752" cy="3655060"/>
            <a:chOff x="756" y="8158"/>
            <a:chExt cx="11735" cy="5756"/>
          </a:xfrm>
        </p:grpSpPr>
        <p:sp>
          <p:nvSpPr>
            <p:cNvPr id="15" name="矩形 14"/>
            <p:cNvSpPr/>
            <p:nvPr/>
          </p:nvSpPr>
          <p:spPr>
            <a:xfrm>
              <a:off x="756" y="8158"/>
              <a:ext cx="11735" cy="57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sp>
          <p:nvSpPr>
            <p:cNvPr id="19" name="object 25"/>
            <p:cNvSpPr txBox="1"/>
            <p:nvPr/>
          </p:nvSpPr>
          <p:spPr>
            <a:xfrm>
              <a:off x="841" y="8233"/>
              <a:ext cx="11388" cy="5681"/>
            </a:xfrm>
            <a:prstGeom prst="rect">
              <a:avLst/>
            </a:prstGeom>
            <a:noFill/>
            <a:extLst>
              <a:ext uri="{909E8E84-426E-40DD-AFC4-6F175D3DCCD1}">
                <a14:hiddenFill xmlns:a14="http://schemas.microsoft.com/office/drawing/2010/main">
                  <a:solidFill>
                    <a:schemeClr val="bg1"/>
                  </a:solidFill>
                </a14:hiddenFill>
              </a:ext>
            </a:extLst>
          </p:spPr>
          <p:txBody>
            <a:bodyPr vert="horz" wrap="square" lIns="0" tIns="18169" rIns="0" bIns="0" rtlCol="0">
              <a:noAutofit/>
            </a:bodyPr>
            <a:lstStyle/>
            <a:p>
              <a:pPr marL="19050" marR="7620">
                <a:spcBef>
                  <a:spcPts val="145"/>
                </a:spcBef>
              </a:pPr>
              <a:r>
                <a:rPr sz="2790" b="1" i="1" spc="-8" dirty="0">
                  <a:solidFill>
                    <a:srgbClr val="202475"/>
                  </a:solidFill>
                  <a:latin typeface="Cascadia Code" panose="020B0609020000020004" charset="0"/>
                  <a:ea typeface="Cascadia Code SemiBold" panose="020B0609020000020004" pitchFamily="49" charset="0"/>
                  <a:cs typeface="Cascadia Code" panose="020B0609020000020004" charset="0"/>
                  <a:sym typeface="+mn-ea"/>
                </a:rPr>
                <a:t>Introduction</a:t>
              </a:r>
              <a:endParaRPr lang="en-US" altLang="zh-CN" sz="2790" b="1" i="1" dirty="0">
                <a:solidFill>
                  <a:schemeClr val="bg1"/>
                </a:solidFill>
                <a:latin typeface="Cascadia Code" panose="020B0609020000020004" charset="0"/>
                <a:ea typeface="Cascadia Code SemiBold" panose="020B0609020000020004" pitchFamily="49" charset="0"/>
                <a:cs typeface="Cascadia Code" panose="020B0609020000020004" charset="0"/>
              </a:endParaRPr>
            </a:p>
            <a:p>
              <a:pPr marL="19050" marR="7620">
                <a:spcBef>
                  <a:spcPts val="145"/>
                </a:spcBef>
              </a:pPr>
              <a:r>
                <a:rPr lang="en-US" altLang="zh-CN" b="1" i="1" dirty="0">
                  <a:solidFill>
                    <a:srgbClr val="002060"/>
                  </a:solidFill>
                  <a:ea typeface="Cascadia Code SemiBold" panose="020B0609020000020004" pitchFamily="49" charset="0"/>
                  <a:cs typeface="+mn-lt"/>
                </a:rPr>
                <a:t>Our contributions :</a:t>
              </a:r>
              <a:endParaRPr lang="en-US" altLang="zh-CN" b="1" i="1" dirty="0">
                <a:solidFill>
                  <a:srgbClr val="002060"/>
                </a:solidFill>
                <a:ea typeface="Cascadia Code SemiBold" panose="020B0609020000020004" pitchFamily="49" charset="0"/>
                <a:cs typeface="+mn-lt"/>
              </a:endParaRPr>
            </a:p>
            <a:p>
              <a:pPr marL="361950" marR="7620" indent="-342900">
                <a:spcBef>
                  <a:spcPts val="145"/>
                </a:spcBef>
                <a:buFont typeface="Arial" panose="020B0604020202020204" pitchFamily="34" charset="0"/>
                <a:buChar char="•"/>
              </a:pPr>
              <a:r>
                <a:rPr lang="en-US" altLang="zh-CN" i="1" dirty="0">
                  <a:solidFill>
                    <a:schemeClr val="tx1"/>
                  </a:solidFill>
                  <a:ea typeface="Tahoma" panose="020B0604030504040204" pitchFamily="34" charset="0"/>
                  <a:cs typeface="+mn-lt"/>
                </a:rPr>
                <a:t>We construct a dataset based on MTPB by adding a summary instruction that summarized the multi-step instructions in MTPB</a:t>
              </a:r>
              <a:endParaRPr lang="en-US" altLang="zh-CN" i="1" dirty="0">
                <a:solidFill>
                  <a:schemeClr val="tx1"/>
                </a:solidFill>
                <a:ea typeface="Tahoma" panose="020B0604030504040204" pitchFamily="34" charset="0"/>
                <a:cs typeface="+mn-lt"/>
              </a:endParaRPr>
            </a:p>
            <a:p>
              <a:pPr marL="361950" marR="7620" indent="-342900">
                <a:spcBef>
                  <a:spcPts val="145"/>
                </a:spcBef>
                <a:buFont typeface="Arial" panose="020B0604020202020204" pitchFamily="34" charset="0"/>
                <a:buChar char="•"/>
              </a:pPr>
              <a:r>
                <a:rPr lang="en-US" altLang="zh-CN" i="1" dirty="0">
                  <a:solidFill>
                    <a:schemeClr val="tx1"/>
                  </a:solidFill>
                  <a:ea typeface="Tahoma" panose="020B0604030504040204" pitchFamily="34" charset="0"/>
                  <a:cs typeface="+mn-lt"/>
                </a:rPr>
                <a:t>We use prompt engineering to automatically decompose our summary prompt and enhance our result with the chain-of-thought prompting.</a:t>
              </a:r>
              <a:endParaRPr lang="en-US" altLang="zh-CN" i="1" dirty="0">
                <a:solidFill>
                  <a:schemeClr val="tx1"/>
                </a:solidFill>
                <a:ea typeface="Tahoma" panose="020B0604030504040204" pitchFamily="34" charset="0"/>
                <a:cs typeface="+mn-lt"/>
              </a:endParaRPr>
            </a:p>
            <a:p>
              <a:pPr marL="19050" marR="7620">
                <a:spcBef>
                  <a:spcPts val="145"/>
                </a:spcBef>
              </a:pPr>
              <a:r>
                <a:rPr lang="en-US" b="1" i="1" dirty="0">
                  <a:solidFill>
                    <a:srgbClr val="002060"/>
                  </a:solidFill>
                  <a:ea typeface="Tahoma" panose="020B0604030504040204" pitchFamily="34" charset="0"/>
                  <a:cs typeface="+mn-lt"/>
                </a:rPr>
                <a:t>Findings: </a:t>
              </a:r>
              <a:endParaRPr lang="en-US" b="1" i="1" dirty="0">
                <a:solidFill>
                  <a:srgbClr val="002060"/>
                </a:solidFill>
                <a:ea typeface="Tahoma" panose="020B0604030504040204" pitchFamily="34" charset="0"/>
                <a:cs typeface="+mn-lt"/>
              </a:endParaRPr>
            </a:p>
            <a:p>
              <a:pPr marL="361950" marR="7620" indent="-342900">
                <a:spcBef>
                  <a:spcPts val="145"/>
                </a:spcBef>
                <a:buFont typeface="Arial" panose="020B0604020202020204" pitchFamily="34" charset="0"/>
                <a:buChar char="•"/>
              </a:pPr>
              <a:r>
                <a:rPr lang="en-US" altLang="zh-CN" i="1" dirty="0">
                  <a:solidFill>
                    <a:schemeClr val="tx1"/>
                  </a:solidFill>
                  <a:ea typeface="Tahoma" panose="020B0604030504040204" pitchFamily="34" charset="0"/>
                  <a:cs typeface="+mn-lt"/>
                </a:rPr>
                <a:t>LLMs can automatically decompose a short instruction into individual steps</a:t>
              </a:r>
              <a:endParaRPr lang="en-US" altLang="zh-CN" i="1" dirty="0">
                <a:solidFill>
                  <a:schemeClr val="tx1"/>
                </a:solidFill>
                <a:ea typeface="Tahoma" panose="020B0604030504040204" pitchFamily="34" charset="0"/>
                <a:cs typeface="+mn-lt"/>
              </a:endParaRPr>
            </a:p>
            <a:p>
              <a:pPr marL="361950" marR="7620" indent="-342900">
                <a:spcBef>
                  <a:spcPts val="145"/>
                </a:spcBef>
                <a:buFont typeface="Arial" panose="020B0604020202020204" pitchFamily="34" charset="0"/>
                <a:buChar char="•"/>
              </a:pPr>
              <a:r>
                <a:rPr lang="en-US" altLang="zh-CN" i="1" dirty="0">
                  <a:solidFill>
                    <a:schemeClr val="tx1"/>
                  </a:solidFill>
                  <a:ea typeface="Tahoma" panose="020B0604030504040204" pitchFamily="34" charset="0"/>
                  <a:cs typeface="+mn-lt"/>
                </a:rPr>
                <a:t>LLMs can complete the code better with both generated and gold individual steps.</a:t>
              </a:r>
              <a:endParaRPr lang="en-US" altLang="zh-CN" i="1" dirty="0">
                <a:solidFill>
                  <a:schemeClr val="tx1"/>
                </a:solidFill>
                <a:ea typeface="Tahoma" panose="020B0604030504040204" pitchFamily="34" charset="0"/>
                <a:cs typeface="+mn-lt"/>
              </a:endParaRPr>
            </a:p>
            <a:p>
              <a:pPr marL="361950" marR="7620" indent="-342900">
                <a:spcBef>
                  <a:spcPts val="145"/>
                </a:spcBef>
                <a:buFont typeface="Arial" panose="020B0604020202020204" pitchFamily="34" charset="0"/>
                <a:buChar char="•"/>
              </a:pPr>
              <a:r>
                <a:rPr lang="en-US" altLang="zh-CN" i="1" dirty="0">
                  <a:solidFill>
                    <a:schemeClr val="tx1"/>
                  </a:solidFill>
                  <a:ea typeface="Tahoma" panose="020B0604030504040204" pitchFamily="34" charset="0"/>
                  <a:cs typeface="+mn-lt"/>
                </a:rPr>
                <a:t>LLMs may prefer copying example answers, but this can be alleviated via corrective prompting</a:t>
              </a:r>
              <a:endParaRPr lang="en-US" altLang="zh-CN" i="1" dirty="0">
                <a:solidFill>
                  <a:schemeClr val="tx1"/>
                </a:solidFill>
                <a:ea typeface="Tahoma" panose="020B0604030504040204" pitchFamily="34" charset="0"/>
                <a:cs typeface="+mn-lt"/>
              </a:endParaRPr>
            </a:p>
            <a:p>
              <a:pPr marL="19050" marR="7620">
                <a:spcBef>
                  <a:spcPts val="145"/>
                </a:spcBef>
              </a:pPr>
              <a:endParaRPr lang="en-US" altLang="zh-CN" dirty="0">
                <a:solidFill>
                  <a:schemeClr val="bg1"/>
                </a:solidFill>
                <a:ea typeface="Tahoma" panose="020B0604030504040204" pitchFamily="34" charset="0"/>
                <a:cs typeface="+mn-lt"/>
              </a:endParaRPr>
            </a:p>
            <a:p>
              <a:pPr marL="19050" marR="7620">
                <a:spcBef>
                  <a:spcPts val="145"/>
                </a:spcBef>
              </a:pPr>
              <a:endParaRPr dirty="0">
                <a:solidFill>
                  <a:schemeClr val="bg1"/>
                </a:solidFill>
                <a:ea typeface="Tahoma" panose="020B0604030504040204" pitchFamily="34" charset="0"/>
                <a:cs typeface="+mn-lt"/>
              </a:endParaRPr>
            </a:p>
          </p:txBody>
        </p:sp>
      </p:grpSp>
      <p:sp>
        <p:nvSpPr>
          <p:cNvPr id="44" name="矩形 43"/>
          <p:cNvSpPr/>
          <p:nvPr/>
        </p:nvSpPr>
        <p:spPr>
          <a:xfrm>
            <a:off x="8358505" y="5612130"/>
            <a:ext cx="12821285" cy="216452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sp>
        <p:nvSpPr>
          <p:cNvPr id="35" name="文本框 34"/>
          <p:cNvSpPr txBox="1"/>
          <p:nvPr/>
        </p:nvSpPr>
        <p:spPr>
          <a:xfrm>
            <a:off x="8437566" y="12124593"/>
            <a:ext cx="5617503" cy="370422"/>
          </a:xfrm>
          <a:prstGeom prst="rect">
            <a:avLst/>
          </a:prstGeom>
          <a:noFill/>
        </p:spPr>
        <p:txBody>
          <a:bodyPr wrap="square" rtlCol="0">
            <a:spAutoFit/>
          </a:bodyPr>
          <a:lstStyle/>
          <a:p>
            <a:r>
              <a:rPr lang="en-US" altLang="zh-CN" sz="1805" b="1" i="1" spc="-8" dirty="0">
                <a:solidFill>
                  <a:srgbClr val="202475"/>
                </a:solidFill>
                <a:latin typeface="Tahoma" panose="020B0604030504040204"/>
                <a:cs typeface="Tahoma" panose="020B0604030504040204"/>
              </a:rPr>
              <a:t>B. Auto Decomposition with Chain of Thought</a:t>
            </a:r>
            <a:endParaRPr lang="zh-CN" altLang="en-US" sz="1805" b="1" i="1" spc="-8" dirty="0">
              <a:solidFill>
                <a:srgbClr val="202475"/>
              </a:solidFill>
              <a:latin typeface="Tahoma" panose="020B0604030504040204"/>
              <a:cs typeface="Tahoma" panose="020B0604030504040204"/>
            </a:endParaRPr>
          </a:p>
        </p:txBody>
      </p:sp>
      <p:grpSp>
        <p:nvGrpSpPr>
          <p:cNvPr id="14" name="组合 13"/>
          <p:cNvGrpSpPr/>
          <p:nvPr/>
        </p:nvGrpSpPr>
        <p:grpSpPr>
          <a:xfrm>
            <a:off x="381635" y="23241000"/>
            <a:ext cx="7767955" cy="4016375"/>
            <a:chOff x="758" y="50267"/>
            <a:chExt cx="11843" cy="8990"/>
          </a:xfrm>
        </p:grpSpPr>
        <p:sp>
          <p:nvSpPr>
            <p:cNvPr id="60" name="矩形 59"/>
            <p:cNvSpPr/>
            <p:nvPr/>
          </p:nvSpPr>
          <p:spPr>
            <a:xfrm>
              <a:off x="758" y="50267"/>
              <a:ext cx="11843" cy="8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sp>
          <p:nvSpPr>
            <p:cNvPr id="61" name="object 18"/>
            <p:cNvSpPr txBox="1"/>
            <p:nvPr/>
          </p:nvSpPr>
          <p:spPr>
            <a:xfrm>
              <a:off x="976" y="50504"/>
              <a:ext cx="11309" cy="8514"/>
            </a:xfrm>
            <a:prstGeom prst="rect">
              <a:avLst/>
            </a:prstGeom>
          </p:spPr>
          <p:txBody>
            <a:bodyPr vert="horz" wrap="square" lIns="0" tIns="195076" rIns="0" bIns="0" rtlCol="0">
              <a:noAutofit/>
            </a:bodyPr>
            <a:lstStyle/>
            <a:p>
              <a:pPr marL="26035">
                <a:spcBef>
                  <a:spcPts val="1535"/>
                </a:spcBef>
              </a:pPr>
              <a:r>
                <a:rPr lang="en-US" sz="2785" b="1" i="1" spc="-8" dirty="0">
                  <a:solidFill>
                    <a:srgbClr val="002060"/>
                  </a:solidFill>
                  <a:latin typeface="Cascadia Code SemiBold" panose="020B0609020000020004" pitchFamily="49" charset="0"/>
                  <a:ea typeface="Cascadia Code SemiBold" panose="020B0609020000020004" pitchFamily="49" charset="0"/>
                  <a:cs typeface="Cascadia Code SemiBold" panose="020B0609020000020004" pitchFamily="49" charset="0"/>
                </a:rPr>
                <a:t>Conclusion and Discussion</a:t>
              </a:r>
              <a:endParaRPr sz="2785" b="1" i="1" dirty="0">
                <a:solidFill>
                  <a:srgbClr val="002060"/>
                </a:solidFill>
                <a:latin typeface="Cascadia Code SemiBold" panose="020B0609020000020004" pitchFamily="49" charset="0"/>
                <a:ea typeface="Cascadia Code SemiBold" panose="020B0609020000020004" pitchFamily="49" charset="0"/>
                <a:cs typeface="Cascadia Code SemiBold" panose="020B0609020000020004" pitchFamily="49" charset="0"/>
              </a:endParaRPr>
            </a:p>
            <a:p>
              <a:pPr marL="26035" marR="7620">
                <a:spcBef>
                  <a:spcPts val="1535"/>
                </a:spcBef>
              </a:pPr>
              <a:r>
                <a:rPr lang="fr-FR" altLang="zh-CN" dirty="0"/>
                <a:t>In this study, we show that LLMS can automatically decompose user intention into individual steps, and its’ performance of code completion can benefit from relying on decomposed steps. However, our study is limited in terms of the models we have tested and the size and variety of coding task. It is possible that better models such as GPT4 can decompose the instruction better or it might be more capable or solving the problem without explicit decomposition.</a:t>
              </a:r>
              <a:endParaRPr lang="fr-FR" altLang="zh-CN" dirty="0"/>
            </a:p>
            <a:p>
              <a:pPr marL="26035" marR="7620">
                <a:spcBef>
                  <a:spcPts val="1535"/>
                </a:spcBef>
              </a:pPr>
              <a:endParaRPr lang="fr-FR" altLang="zh-CN" b="1" i="1" dirty="0"/>
            </a:p>
          </p:txBody>
        </p:sp>
      </p:grpSp>
      <p:grpSp>
        <p:nvGrpSpPr>
          <p:cNvPr id="13" name="组合 12"/>
          <p:cNvGrpSpPr/>
          <p:nvPr/>
        </p:nvGrpSpPr>
        <p:grpSpPr>
          <a:xfrm>
            <a:off x="461645" y="9676765"/>
            <a:ext cx="7442200" cy="5757041"/>
            <a:chOff x="926" y="17373"/>
            <a:chExt cx="11720" cy="9073"/>
          </a:xfrm>
        </p:grpSpPr>
        <p:sp>
          <p:nvSpPr>
            <p:cNvPr id="28" name="object 32"/>
            <p:cNvSpPr txBox="1"/>
            <p:nvPr/>
          </p:nvSpPr>
          <p:spPr>
            <a:xfrm>
              <a:off x="984" y="17373"/>
              <a:ext cx="6903" cy="707"/>
            </a:xfrm>
            <a:prstGeom prst="rect">
              <a:avLst/>
            </a:prstGeom>
          </p:spPr>
          <p:txBody>
            <a:bodyPr vert="horz" wrap="square" lIns="0" tIns="20081" rIns="0" bIns="0" rtlCol="0">
              <a:spAutoFit/>
            </a:bodyPr>
            <a:lstStyle/>
            <a:p>
              <a:pPr marL="19050">
                <a:spcBef>
                  <a:spcPts val="160"/>
                </a:spcBef>
              </a:pPr>
              <a:r>
                <a:rPr lang="en-US" sz="2785" b="1" i="1" spc="-8"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Related Work</a:t>
              </a:r>
              <a:endParaRPr sz="2785"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sp>
          <p:nvSpPr>
            <p:cNvPr id="31" name="object 66"/>
            <p:cNvSpPr txBox="1"/>
            <p:nvPr/>
          </p:nvSpPr>
          <p:spPr>
            <a:xfrm>
              <a:off x="926" y="21231"/>
              <a:ext cx="10936" cy="466"/>
            </a:xfrm>
            <a:prstGeom prst="rect">
              <a:avLst/>
            </a:prstGeom>
          </p:spPr>
          <p:txBody>
            <a:bodyPr vert="horz" wrap="square" lIns="0" tIns="18169" rIns="0" bIns="0" rtlCol="0">
              <a:spAutoFit/>
            </a:bodyPr>
            <a:lstStyle/>
            <a:p>
              <a:pPr marL="19050" marR="260985" algn="just">
                <a:spcBef>
                  <a:spcPts val="145"/>
                </a:spcBef>
              </a:pPr>
              <a:r>
                <a:rPr lang="en-US" sz="1805" b="1" i="1" spc="-8" dirty="0">
                  <a:solidFill>
                    <a:srgbClr val="002060"/>
                  </a:solidFill>
                  <a:latin typeface="Tahoma" panose="020B0604030504040204"/>
                  <a:cs typeface="Tahoma" panose="020B0604030504040204"/>
                </a:rPr>
                <a:t>B. Multi-Turn Program Synthesis</a:t>
              </a:r>
              <a:endParaRPr lang="en-US" sz="1805" b="1" i="1" spc="-8" dirty="0">
                <a:solidFill>
                  <a:srgbClr val="002060"/>
                </a:solidFill>
                <a:latin typeface="Tahoma" panose="020B0604030504040204"/>
                <a:cs typeface="Tahoma" panose="020B0604030504040204"/>
              </a:endParaRPr>
            </a:p>
          </p:txBody>
        </p:sp>
        <p:sp>
          <p:nvSpPr>
            <p:cNvPr id="32" name="object 66"/>
            <p:cNvSpPr txBox="1"/>
            <p:nvPr/>
          </p:nvSpPr>
          <p:spPr>
            <a:xfrm>
              <a:off x="984" y="25980"/>
              <a:ext cx="9559" cy="466"/>
            </a:xfrm>
            <a:prstGeom prst="rect">
              <a:avLst/>
            </a:prstGeom>
          </p:spPr>
          <p:txBody>
            <a:bodyPr vert="horz" wrap="square" lIns="0" tIns="18169" rIns="0" bIns="0" rtlCol="0">
              <a:spAutoFit/>
            </a:bodyPr>
            <a:lstStyle/>
            <a:p>
              <a:pPr marL="19050" marR="260985" algn="just">
                <a:spcBef>
                  <a:spcPts val="145"/>
                </a:spcBef>
              </a:pPr>
              <a:r>
                <a:rPr lang="en-US" sz="1805" b="1" i="1" spc="-8" dirty="0">
                  <a:solidFill>
                    <a:srgbClr val="202475"/>
                  </a:solidFill>
                  <a:latin typeface="Tahoma" panose="020B0604030504040204"/>
                  <a:cs typeface="Tahoma" panose="020B0604030504040204"/>
                </a:rPr>
                <a:t>C. Chain of Thought prompting</a:t>
              </a:r>
              <a:endParaRPr sz="1805" i="1" dirty="0">
                <a:solidFill>
                  <a:srgbClr val="202475"/>
                </a:solidFill>
                <a:latin typeface="Tahoma" panose="020B0604030504040204"/>
                <a:cs typeface="Tahoma" panose="020B0604030504040204"/>
              </a:endParaRPr>
            </a:p>
          </p:txBody>
        </p:sp>
        <p:sp>
          <p:nvSpPr>
            <p:cNvPr id="3" name="文本框 2"/>
            <p:cNvSpPr txBox="1"/>
            <p:nvPr/>
          </p:nvSpPr>
          <p:spPr>
            <a:xfrm>
              <a:off x="926" y="21857"/>
              <a:ext cx="11720" cy="4509"/>
            </a:xfrm>
            <a:prstGeom prst="rect">
              <a:avLst/>
            </a:prstGeom>
            <a:noFill/>
          </p:spPr>
          <p:txBody>
            <a:bodyPr wrap="square" rtlCol="0">
              <a:spAutoFit/>
            </a:bodyPr>
            <a:lstStyle/>
            <a:p>
              <a:r>
                <a:rPr lang="zh-CN" altLang="en-US" i="1" dirty="0">
                  <a:cs typeface="+mn-lt"/>
                </a:rPr>
                <a:t>Program synthesis is the generation of computer programs based on problem specifications</a:t>
              </a:r>
              <a:r>
                <a:rPr lang="en-US" altLang="zh-CN" i="1" dirty="0">
                  <a:cs typeface="+mn-lt"/>
                </a:rPr>
                <a:t>.</a:t>
              </a:r>
              <a:r>
                <a:rPr lang="zh-CN" altLang="en-US" i="1" dirty="0">
                  <a:cs typeface="+mn-lt"/>
                </a:rPr>
                <a:t> </a:t>
              </a:r>
              <a:r>
                <a:rPr lang="en-US" altLang="zh-CN" i="1" dirty="0">
                  <a:cs typeface="+mn-lt"/>
                </a:rPr>
                <a:t>A program specification could involve multi-turn steps. To investigate the multi-step paradigm for program synthesis, researchers introduced Multi-Turn Programming Benchmark (MTPB) which consists of 115 diverse problem sets that are factorized into multi-turn prompts[1].</a:t>
              </a:r>
              <a:r>
                <a:rPr lang="zh-CN" altLang="en-US" i="1" dirty="0">
                  <a:cs typeface="+mn-lt"/>
                  <a:sym typeface="+mn-ea"/>
                </a:rPr>
                <a:t> </a:t>
              </a:r>
              <a:r>
                <a:rPr lang="en-US" altLang="zh-CN" i="1" dirty="0">
                  <a:cs typeface="+mn-lt"/>
                  <a:sym typeface="+mn-ea"/>
                </a:rPr>
                <a:t>While MTPB </a:t>
              </a:r>
              <a:r>
                <a:rPr lang="zh-CN" altLang="en-US" i="1" dirty="0">
                  <a:cs typeface="+mn-lt"/>
                  <a:sym typeface="+mn-ea"/>
                </a:rPr>
                <a:t>offers a manual</a:t>
              </a:r>
              <a:r>
                <a:rPr lang="en-US" altLang="zh-CN" i="1" dirty="0">
                  <a:cs typeface="+mn-lt"/>
                  <a:sym typeface="+mn-ea"/>
                </a:rPr>
                <a:t> </a:t>
              </a:r>
              <a:r>
                <a:rPr lang="zh-CN" altLang="en-US" i="1" dirty="0">
                  <a:cs typeface="+mn-lt"/>
                  <a:sym typeface="+mn-ea"/>
                </a:rPr>
                <a:t>breakdown of each step </a:t>
              </a:r>
              <a:r>
                <a:rPr lang="en-US" altLang="zh-CN" i="1" dirty="0">
                  <a:cs typeface="+mn-lt"/>
                  <a:sym typeface="+mn-ea"/>
                </a:rPr>
                <a:t>for a given problem,</a:t>
              </a:r>
              <a:r>
                <a:rPr lang="zh-CN" altLang="en-US" i="1" dirty="0">
                  <a:cs typeface="+mn-lt"/>
                  <a:sym typeface="+mn-ea"/>
                </a:rPr>
                <a:t> </a:t>
              </a:r>
              <a:r>
                <a:rPr lang="en-US" altLang="zh-CN" i="1" dirty="0">
                  <a:cs typeface="+mn-lt"/>
                  <a:sym typeface="+mn-ea"/>
                </a:rPr>
                <a:t>rarely users will specify coding steps in such detail. We aim to provide a more realistic setting where LLMs start with a short but sufficient problem specification.</a:t>
              </a:r>
              <a:endParaRPr lang="en-US" altLang="zh-CN" i="1" dirty="0">
                <a:cs typeface="+mn-lt"/>
                <a:sym typeface="+mn-ea"/>
              </a:endParaRPr>
            </a:p>
            <a:p>
              <a:r>
                <a:rPr lang="en-US" altLang="zh-CN" i="1" dirty="0">
                  <a:cs typeface="+mn-lt"/>
                </a:rPr>
                <a:t> </a:t>
              </a:r>
              <a:endParaRPr lang="zh-CN" altLang="en-US" i="1" dirty="0">
                <a:highlight>
                  <a:srgbClr val="FFFF00"/>
                </a:highlight>
                <a:cs typeface="+mn-lt"/>
              </a:endParaRPr>
            </a:p>
          </p:txBody>
        </p:sp>
      </p:grpSp>
      <p:sp>
        <p:nvSpPr>
          <p:cNvPr id="8" name="文本框 7"/>
          <p:cNvSpPr txBox="1"/>
          <p:nvPr/>
        </p:nvSpPr>
        <p:spPr>
          <a:xfrm>
            <a:off x="425450" y="15433675"/>
            <a:ext cx="7478395" cy="1633855"/>
          </a:xfrm>
          <a:prstGeom prst="rect">
            <a:avLst/>
          </a:prstGeom>
          <a:noFill/>
        </p:spPr>
        <p:txBody>
          <a:bodyPr wrap="square" rtlCol="0">
            <a:noAutofit/>
          </a:bodyPr>
          <a:lstStyle/>
          <a:p>
            <a:r>
              <a:rPr lang="zh-CN" altLang="en-US" i="1" dirty="0">
                <a:cs typeface="+mn-lt"/>
              </a:rPr>
              <a:t>Chain of Thought (CoT) </a:t>
            </a:r>
            <a:r>
              <a:rPr lang="en-US" altLang="zh-CN" i="1" dirty="0">
                <a:cs typeface="+mn-lt"/>
              </a:rPr>
              <a:t>prompting </a:t>
            </a:r>
            <a:r>
              <a:rPr lang="en-US" i="1" dirty="0">
                <a:cs typeface="+mn-lt"/>
              </a:rPr>
              <a:t>provides demonstrations as exemplars in prompting. </a:t>
            </a:r>
            <a:r>
              <a:rPr lang="en-US" i="1" dirty="0" err="1">
                <a:cs typeface="+mn-lt"/>
              </a:rPr>
              <a:t>CoT</a:t>
            </a:r>
            <a:r>
              <a:rPr lang="en-US" i="1" dirty="0">
                <a:cs typeface="+mn-lt"/>
              </a:rPr>
              <a:t> teaches LLMs to solve problems by leveraging LLMs’ ability to in-context learn new patterns. We use </a:t>
            </a:r>
            <a:r>
              <a:rPr lang="en-US" i="1" dirty="0" err="1">
                <a:cs typeface="+mn-lt"/>
              </a:rPr>
              <a:t>CoT</a:t>
            </a:r>
            <a:r>
              <a:rPr lang="en-US" i="1" dirty="0">
                <a:cs typeface="+mn-lt"/>
              </a:rPr>
              <a:t> </a:t>
            </a:r>
            <a:r>
              <a:rPr lang="en-US" i="1" dirty="0" err="1">
                <a:cs typeface="+mn-lt"/>
              </a:rPr>
              <a:t>examplars</a:t>
            </a:r>
            <a:r>
              <a:rPr lang="en-US" i="1" dirty="0">
                <a:cs typeface="+mn-lt"/>
              </a:rPr>
              <a:t> to teach LLMs to decompose the summary specification and provide well-formatted code. [4]</a:t>
            </a:r>
            <a:endParaRPr lang="zh-CN" altLang="en-US" i="1" dirty="0">
              <a:cs typeface="+mn-lt"/>
            </a:endParaRPr>
          </a:p>
        </p:txBody>
      </p:sp>
      <p:sp>
        <p:nvSpPr>
          <p:cNvPr id="22" name="矩形 21"/>
          <p:cNvSpPr/>
          <p:nvPr>
            <p:custDataLst>
              <p:tags r:id="rId2"/>
            </p:custDataLst>
          </p:nvPr>
        </p:nvSpPr>
        <p:spPr>
          <a:xfrm>
            <a:off x="381000" y="27397075"/>
            <a:ext cx="20828635" cy="267144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sp>
        <p:nvSpPr>
          <p:cNvPr id="21" name="object 18"/>
          <p:cNvSpPr txBox="1"/>
          <p:nvPr>
            <p:custDataLst>
              <p:tags r:id="rId3"/>
            </p:custDataLst>
          </p:nvPr>
        </p:nvSpPr>
        <p:spPr>
          <a:xfrm>
            <a:off x="660400" y="27397710"/>
            <a:ext cx="4032250" cy="623570"/>
          </a:xfrm>
          <a:prstGeom prst="rect">
            <a:avLst/>
          </a:prstGeom>
        </p:spPr>
        <p:txBody>
          <a:bodyPr vert="horz" wrap="square" lIns="0" tIns="195076" rIns="0" bIns="0" rtlCol="0">
            <a:spAutoFit/>
          </a:bodyPr>
          <a:lstStyle/>
          <a:p>
            <a:pPr marL="26035" marR="7620">
              <a:spcBef>
                <a:spcPts val="1535"/>
              </a:spcBef>
            </a:pPr>
            <a:r>
              <a:rPr lang="en-US" sz="2785" b="1" i="1" spc="-8" dirty="0">
                <a:solidFill>
                  <a:srgbClr val="002060"/>
                </a:solidFill>
                <a:latin typeface="Cascadia Code SemiBold" panose="020B0609020000020004" pitchFamily="49" charset="0"/>
                <a:ea typeface="Cascadia Code SemiBold" panose="020B0609020000020004" pitchFamily="49" charset="0"/>
                <a:cs typeface="Cascadia Code SemiBold" panose="020B0609020000020004" pitchFamily="49" charset="0"/>
              </a:rPr>
              <a:t>Reference</a:t>
            </a:r>
            <a:endParaRPr lang="en-US" sz="2785" b="1" i="1" spc="-8" dirty="0">
              <a:solidFill>
                <a:srgbClr val="002060"/>
              </a:solidFill>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pic>
        <p:nvPicPr>
          <p:cNvPr id="56" name="图片 55" descr="2387"/>
          <p:cNvPicPr>
            <a:picLocks noChangeAspect="1"/>
          </p:cNvPicPr>
          <p:nvPr/>
        </p:nvPicPr>
        <p:blipFill>
          <a:blip r:embed="rId4"/>
          <a:stretch>
            <a:fillRect/>
          </a:stretch>
        </p:blipFill>
        <p:spPr>
          <a:xfrm>
            <a:off x="10600055" y="19081115"/>
            <a:ext cx="3519805" cy="1673860"/>
          </a:xfrm>
          <a:prstGeom prst="rect">
            <a:avLst/>
          </a:prstGeom>
        </p:spPr>
      </p:pic>
      <p:sp>
        <p:nvSpPr>
          <p:cNvPr id="23" name="文本框 22"/>
          <p:cNvSpPr txBox="1"/>
          <p:nvPr/>
        </p:nvSpPr>
        <p:spPr>
          <a:xfrm>
            <a:off x="510540" y="28021280"/>
            <a:ext cx="20498435" cy="1938020"/>
          </a:xfrm>
          <a:prstGeom prst="rect">
            <a:avLst/>
          </a:prstGeom>
          <a:noFill/>
        </p:spPr>
        <p:txBody>
          <a:bodyPr wrap="square" rtlCol="0">
            <a:spAutoFit/>
          </a:bodyPr>
          <a:lstStyle/>
          <a:p>
            <a:r>
              <a:rPr lang="zh-CN" altLang="en-US" sz="2000" i="1" dirty="0"/>
              <a:t>[1] Nijkamp E, Pang B, Hayashi H, et al. Codegen: An open largelanguage model for code with multi-turn program synthesis[J]. arXiv</a:t>
            </a:r>
            <a:r>
              <a:rPr lang="en-US" altLang="zh-CN" sz="2000" i="1" dirty="0"/>
              <a:t> </a:t>
            </a:r>
            <a:r>
              <a:rPr lang="zh-CN" altLang="en-US" sz="2000" i="1" dirty="0"/>
              <a:t>preprint </a:t>
            </a:r>
            <a:endParaRPr lang="zh-CN" altLang="en-US" sz="2000" i="1" dirty="0"/>
          </a:p>
          <a:p>
            <a:r>
              <a:rPr lang="zh-CN" altLang="en-US" sz="2000" i="1" dirty="0"/>
              <a:t>arXiv:2203.13474, 2022.</a:t>
            </a:r>
            <a:endParaRPr lang="zh-CN" altLang="en-US" sz="2000" i="1" dirty="0"/>
          </a:p>
          <a:p>
            <a:r>
              <a:rPr lang="zh-CN" altLang="en-US" sz="2000" i="1" dirty="0"/>
              <a:t>[2] Ashish Vaswani, Noam Shazeer, Niki Parmar, Jakob Uszkoreit, Llion</a:t>
            </a:r>
            <a:r>
              <a:rPr lang="en-US" altLang="zh-CN" sz="2000" i="1" dirty="0"/>
              <a:t> </a:t>
            </a:r>
            <a:r>
              <a:rPr lang="zh-CN" altLang="en-US" sz="2000" i="1" dirty="0"/>
              <a:t>Jones, Aidan N Gomez, L ukasz Kaiser, and Illia Polosukhin. Attention</a:t>
            </a:r>
            <a:r>
              <a:rPr lang="en-US" altLang="zh-CN" sz="2000" i="1" dirty="0"/>
              <a:t> </a:t>
            </a:r>
            <a:r>
              <a:rPr lang="en-US" altLang="zh-CN" sz="2000" i="1" dirty="0" err="1"/>
              <a:t>i</a:t>
            </a:r>
            <a:r>
              <a:rPr lang="zh-CN" altLang="en-US" sz="2000" i="1" dirty="0"/>
              <a:t>s all you need. In </a:t>
            </a:r>
            <a:endParaRPr lang="zh-CN" altLang="en-US" sz="2000" i="1" dirty="0"/>
          </a:p>
          <a:p>
            <a:r>
              <a:rPr lang="zh-CN" altLang="en-US" sz="2000" i="1" dirty="0"/>
              <a:t>Advances in Neural Information</a:t>
            </a:r>
            <a:r>
              <a:rPr lang="en-US" altLang="zh-CN" sz="2000" i="1" dirty="0"/>
              <a:t> </a:t>
            </a:r>
            <a:r>
              <a:rPr lang="zh-CN" altLang="en-US" sz="2000" i="1" dirty="0"/>
              <a:t>Processing</a:t>
            </a:r>
            <a:r>
              <a:rPr lang="en-US" altLang="zh-CN" sz="2000" i="1" dirty="0"/>
              <a:t> </a:t>
            </a:r>
            <a:r>
              <a:rPr lang="zh-CN" altLang="en-US" sz="2000" i="1" dirty="0"/>
              <a:t>Systems, volume 30, 2017.</a:t>
            </a:r>
            <a:endParaRPr lang="zh-CN" altLang="en-US" sz="2000" i="1" dirty="0"/>
          </a:p>
          <a:p>
            <a:r>
              <a:rPr lang="en-US" altLang="zh-CN" sz="2000" i="1" dirty="0"/>
              <a:t>[3] Brown T, Mann B, Ryder N, et al. Language models are few-shot learners[J]. Advances in neural information processing systems, 2020, 33: 1877-1901.</a:t>
            </a:r>
            <a:endParaRPr lang="en-US" altLang="zh-CN" sz="2000" i="1" dirty="0"/>
          </a:p>
          <a:p>
            <a:r>
              <a:rPr lang="en-US" altLang="zh-CN" sz="2000" i="1" dirty="0"/>
              <a:t>[4] </a:t>
            </a:r>
            <a:r>
              <a:rPr lang="en-US" altLang="zh-CN" sz="2000" i="1" dirty="0" err="1"/>
              <a:t>Wei J, Wang X, Schuurmans D, et al. Chain-of-thought prompting elicits reasoning in large language models[J]. Advances in Neural Information Processing Systems, 2022, 35:24824-24837.</a:t>
            </a:r>
            <a:endParaRPr lang="en-US" altLang="zh-CN" sz="2000" i="1" dirty="0" err="1"/>
          </a:p>
        </p:txBody>
      </p:sp>
      <p:pic>
        <p:nvPicPr>
          <p:cNvPr id="43" name="图片 42"/>
          <p:cNvPicPr>
            <a:picLocks noChangeAspect="1"/>
          </p:cNvPicPr>
          <p:nvPr>
            <p:custDataLst>
              <p:tags r:id="rId5"/>
            </p:custDataLst>
          </p:nvPr>
        </p:nvPicPr>
        <p:blipFill>
          <a:blip r:embed="rId6"/>
          <a:stretch>
            <a:fillRect/>
          </a:stretch>
        </p:blipFill>
        <p:spPr>
          <a:xfrm>
            <a:off x="13511530" y="21137880"/>
            <a:ext cx="4015105" cy="4971415"/>
          </a:xfrm>
          <a:prstGeom prst="rect">
            <a:avLst/>
          </a:prstGeom>
        </p:spPr>
      </p:pic>
      <p:sp>
        <p:nvSpPr>
          <p:cNvPr id="69" name="文本框 68"/>
          <p:cNvSpPr txBox="1"/>
          <p:nvPr/>
        </p:nvSpPr>
        <p:spPr>
          <a:xfrm>
            <a:off x="8567420" y="12494895"/>
            <a:ext cx="5752465" cy="4246245"/>
          </a:xfrm>
          <a:prstGeom prst="rect">
            <a:avLst/>
          </a:prstGeom>
          <a:noFill/>
        </p:spPr>
        <p:txBody>
          <a:bodyPr wrap="square" rtlCol="0">
            <a:spAutoFit/>
          </a:bodyPr>
          <a:lstStyle/>
          <a:p>
            <a:pPr indent="0">
              <a:buFont typeface="+mj-lt"/>
              <a:buNone/>
            </a:pPr>
            <a:r>
              <a:rPr lang="en-US" altLang="zh-CN" b="1" i="1" dirty="0">
                <a:solidFill>
                  <a:schemeClr val="tx1"/>
                </a:solidFill>
              </a:rPr>
              <a:t>Baseline</a:t>
            </a:r>
            <a:r>
              <a:rPr lang="zh-CN" altLang="en-US" b="1" i="1" dirty="0">
                <a:solidFill>
                  <a:schemeClr val="tx1"/>
                </a:solidFill>
              </a:rPr>
              <a:t>: </a:t>
            </a:r>
            <a:r>
              <a:rPr lang="en-US" altLang="zh-CN" b="1" i="1" dirty="0">
                <a:solidFill>
                  <a:schemeClr val="tx1"/>
                </a:solidFill>
              </a:rPr>
              <a:t> </a:t>
            </a:r>
            <a:r>
              <a:rPr lang="en-US" altLang="zh-CN" i="1" dirty="0"/>
              <a:t>The GPT3.5 model is given only the summary specification to complete the task, and it should directly produce the code.</a:t>
            </a:r>
            <a:endParaRPr lang="zh-CN" altLang="en-US" i="1" dirty="0"/>
          </a:p>
          <a:p>
            <a:pPr indent="0">
              <a:buFont typeface="+mj-lt"/>
              <a:buNone/>
            </a:pPr>
            <a:r>
              <a:rPr lang="en-US" altLang="zh-CN" b="1" i="1" dirty="0">
                <a:solidFill>
                  <a:schemeClr val="tx1"/>
                </a:solidFill>
              </a:rPr>
              <a:t>Automatic decomposition (Auto-D)</a:t>
            </a:r>
            <a:r>
              <a:rPr lang="zh-CN" altLang="en-US" b="1" i="1" dirty="0">
                <a:solidFill>
                  <a:schemeClr val="tx1"/>
                </a:solidFill>
              </a:rPr>
              <a:t>: </a:t>
            </a:r>
            <a:r>
              <a:rPr lang="en-US" altLang="zh-CN" i="1" dirty="0"/>
              <a:t>The GPT3.5 model is given only the summary specification to complete the task, but it is asked to provide a decomposition of summary specification into each steps then provide the code.</a:t>
            </a:r>
            <a:endParaRPr lang="en-US" altLang="zh-CN" i="1" dirty="0"/>
          </a:p>
          <a:p>
            <a:pPr indent="0">
              <a:buFont typeface="+mj-lt"/>
              <a:buNone/>
            </a:pPr>
            <a:r>
              <a:rPr lang="en-US" altLang="zh-CN" b="1" i="1" dirty="0"/>
              <a:t>Gold decomposition (Gold-D)</a:t>
            </a:r>
            <a:r>
              <a:rPr lang="zh-CN" altLang="en-US" b="1" i="1" dirty="0"/>
              <a:t>: </a:t>
            </a:r>
            <a:r>
              <a:rPr lang="en-US" altLang="zh-CN" i="1" dirty="0"/>
              <a:t>Given both the summary specification and the individual steps in original MTBP.</a:t>
            </a:r>
            <a:endParaRPr lang="en-US" altLang="zh-CN" i="1" dirty="0"/>
          </a:p>
          <a:p>
            <a:pPr indent="0">
              <a:buFont typeface="+mj-lt"/>
              <a:buNone/>
            </a:pPr>
            <a:r>
              <a:rPr lang="en-US" altLang="zh-CN" b="1" i="1" dirty="0"/>
              <a:t>Automatic decomposition with Chain of Thought (Auto-D + </a:t>
            </a:r>
            <a:r>
              <a:rPr lang="en-US" altLang="zh-CN" b="1" i="1" dirty="0" err="1"/>
              <a:t>CoT</a:t>
            </a:r>
            <a:r>
              <a:rPr lang="en-US" altLang="zh-CN" b="1" i="1" dirty="0"/>
              <a:t>): </a:t>
            </a:r>
            <a:r>
              <a:rPr lang="en-US" altLang="zh-CN" i="1" dirty="0"/>
              <a:t>In addition to 2, provided with a example of decomposition process and answer. </a:t>
            </a:r>
            <a:endParaRPr lang="en-US" altLang="zh-CN" i="1" dirty="0"/>
          </a:p>
          <a:p>
            <a:pPr indent="0">
              <a:buFont typeface="+mj-lt"/>
              <a:buNone/>
            </a:pPr>
            <a:r>
              <a:rPr lang="en-US" altLang="zh-CN" b="1" i="1" dirty="0"/>
              <a:t>Gold decomposition with Chain of Thought (Gold-D + </a:t>
            </a:r>
            <a:r>
              <a:rPr lang="en-US" altLang="zh-CN" b="1" i="1" dirty="0" err="1"/>
              <a:t>CoT</a:t>
            </a:r>
            <a:r>
              <a:rPr lang="en-US" altLang="zh-CN" b="1" i="1" dirty="0"/>
              <a:t>): </a:t>
            </a:r>
            <a:r>
              <a:rPr lang="en-US" altLang="zh-CN" i="1" dirty="0">
                <a:sym typeface="+mn-ea"/>
              </a:rPr>
              <a:t>In addition to 3, provided with a example of decomposition and answer.    (</a:t>
            </a:r>
            <a:r>
              <a:rPr lang="en-US" altLang="zh-CN" i="1" dirty="0"/>
              <a:t>Figure5)</a:t>
            </a:r>
            <a:endParaRPr lang="en-US" altLang="zh-CN" i="1" dirty="0">
              <a:sym typeface="+mn-ea"/>
            </a:endParaRPr>
          </a:p>
        </p:txBody>
      </p:sp>
      <p:sp>
        <p:nvSpPr>
          <p:cNvPr id="70" name="object 66"/>
          <p:cNvSpPr txBox="1"/>
          <p:nvPr/>
        </p:nvSpPr>
        <p:spPr>
          <a:xfrm>
            <a:off x="425767" y="10260680"/>
            <a:ext cx="6944360" cy="295921"/>
          </a:xfrm>
          <a:prstGeom prst="rect">
            <a:avLst/>
          </a:prstGeom>
        </p:spPr>
        <p:txBody>
          <a:bodyPr vert="horz" wrap="square" lIns="0" tIns="18169" rIns="0" bIns="0" rtlCol="0">
            <a:spAutoFit/>
          </a:bodyPr>
          <a:lstStyle/>
          <a:p>
            <a:pPr marL="19050" marR="260985" algn="just">
              <a:spcBef>
                <a:spcPts val="145"/>
              </a:spcBef>
            </a:pPr>
            <a:r>
              <a:rPr lang="en-US" sz="1805" b="1" i="1" spc="-8" dirty="0">
                <a:solidFill>
                  <a:srgbClr val="202475"/>
                </a:solidFill>
                <a:latin typeface="Tahoma" panose="020B0604030504040204"/>
                <a:cs typeface="Tahoma" panose="020B0604030504040204"/>
              </a:rPr>
              <a:t>A. Large Language Models</a:t>
            </a:r>
            <a:endParaRPr sz="1805" i="1" dirty="0">
              <a:solidFill>
                <a:srgbClr val="202475"/>
              </a:solidFill>
              <a:latin typeface="Tahoma" panose="020B0604030504040204"/>
              <a:cs typeface="Tahoma" panose="020B0604030504040204"/>
            </a:endParaRPr>
          </a:p>
        </p:txBody>
      </p:sp>
      <p:sp>
        <p:nvSpPr>
          <p:cNvPr id="73" name="文本框 2"/>
          <p:cNvSpPr txBox="1"/>
          <p:nvPr/>
        </p:nvSpPr>
        <p:spPr>
          <a:xfrm>
            <a:off x="461645" y="10643870"/>
            <a:ext cx="7513955" cy="1476375"/>
          </a:xfrm>
          <a:prstGeom prst="rect">
            <a:avLst/>
          </a:prstGeom>
          <a:noFill/>
        </p:spPr>
        <p:txBody>
          <a:bodyPr wrap="square" rtlCol="0">
            <a:spAutoFit/>
          </a:bodyPr>
          <a:lstStyle/>
          <a:p>
            <a:r>
              <a:rPr lang="en-US" altLang="zh-CN" i="1" dirty="0"/>
              <a:t>Recently, autoregressive Transformer</a:t>
            </a:r>
            <a:r>
              <a:rPr lang="zh-CN" altLang="en-US" i="1" dirty="0"/>
              <a:t> models</a:t>
            </a:r>
            <a:r>
              <a:rPr lang="en-US" altLang="zh-CN" i="1" dirty="0"/>
              <a:t>[2]</a:t>
            </a:r>
            <a:r>
              <a:rPr lang="zh-CN" altLang="en-US" i="1" dirty="0"/>
              <a:t> </a:t>
            </a:r>
            <a:r>
              <a:rPr lang="en-US" altLang="zh-CN" i="1" dirty="0"/>
              <a:t>with billions of parameters pretrained on terabytes of data </a:t>
            </a:r>
            <a:r>
              <a:rPr lang="zh-CN" altLang="en-US" i="1" dirty="0"/>
              <a:t>have been used to </a:t>
            </a:r>
            <a:r>
              <a:rPr lang="en-US" altLang="zh-CN" i="1" dirty="0"/>
              <a:t>model the conditional distribution of natural language. By further training on a wide range of tasks, they can complete new tasks without training[3]. We will use GPT3.5-turbo in our study.</a:t>
            </a:r>
            <a:endParaRPr lang="zh-CN" altLang="en-US" i="1" dirty="0"/>
          </a:p>
        </p:txBody>
      </p:sp>
      <p:sp>
        <p:nvSpPr>
          <p:cNvPr id="76" name="文本框 34"/>
          <p:cNvSpPr txBox="1"/>
          <p:nvPr/>
        </p:nvSpPr>
        <p:spPr>
          <a:xfrm>
            <a:off x="8446770" y="16647795"/>
            <a:ext cx="5979795" cy="647700"/>
          </a:xfrm>
          <a:prstGeom prst="rect">
            <a:avLst/>
          </a:prstGeom>
          <a:noFill/>
        </p:spPr>
        <p:txBody>
          <a:bodyPr wrap="square" rtlCol="0">
            <a:spAutoFit/>
          </a:bodyPr>
          <a:lstStyle/>
          <a:p>
            <a:r>
              <a:rPr lang="en-US" altLang="zh-CN" sz="1805" b="1" i="1" spc="-8" dirty="0">
                <a:solidFill>
                  <a:srgbClr val="202475"/>
                </a:solidFill>
                <a:latin typeface="Tahoma" panose="020B0604030504040204"/>
                <a:cs typeface="Tahoma" panose="020B0604030504040204"/>
              </a:rPr>
              <a:t>C. Corrective Prompting to Alleviate Copying from </a:t>
            </a:r>
            <a:r>
              <a:rPr lang="en-US" altLang="zh-CN" sz="1805" b="1" i="1" spc="-8" dirty="0" err="1">
                <a:solidFill>
                  <a:srgbClr val="202475"/>
                </a:solidFill>
                <a:latin typeface="Tahoma" panose="020B0604030504040204"/>
                <a:cs typeface="Tahoma" panose="020B0604030504040204"/>
              </a:rPr>
              <a:t>CoT</a:t>
            </a:r>
            <a:r>
              <a:rPr lang="en-US" altLang="zh-CN" sz="1805" b="1" i="1" spc="-8" dirty="0">
                <a:solidFill>
                  <a:srgbClr val="202475"/>
                </a:solidFill>
                <a:latin typeface="Tahoma" panose="020B0604030504040204"/>
                <a:cs typeface="Tahoma" panose="020B0604030504040204"/>
              </a:rPr>
              <a:t> Examples</a:t>
            </a:r>
            <a:endParaRPr lang="zh-CN" altLang="en-US" sz="1805" b="1" i="1" spc="-8" dirty="0">
              <a:solidFill>
                <a:srgbClr val="202475"/>
              </a:solidFill>
              <a:latin typeface="Tahoma" panose="020B0604030504040204"/>
              <a:cs typeface="Tahoma" panose="020B0604030504040204"/>
            </a:endParaRPr>
          </a:p>
        </p:txBody>
      </p:sp>
      <p:pic>
        <p:nvPicPr>
          <p:cNvPr id="50" name="图片 49" descr="flowpath"/>
          <p:cNvPicPr>
            <a:picLocks noChangeAspect="1"/>
          </p:cNvPicPr>
          <p:nvPr/>
        </p:nvPicPr>
        <p:blipFill>
          <a:blip r:embed="rId7"/>
          <a:stretch>
            <a:fillRect/>
          </a:stretch>
        </p:blipFill>
        <p:spPr>
          <a:xfrm>
            <a:off x="9534525" y="5659755"/>
            <a:ext cx="10899775" cy="4019550"/>
          </a:xfrm>
          <a:prstGeom prst="rect">
            <a:avLst/>
          </a:prstGeom>
        </p:spPr>
      </p:pic>
      <p:sp>
        <p:nvSpPr>
          <p:cNvPr id="33" name="object 65"/>
          <p:cNvSpPr txBox="1"/>
          <p:nvPr/>
        </p:nvSpPr>
        <p:spPr>
          <a:xfrm>
            <a:off x="8567420" y="5753100"/>
            <a:ext cx="4804410" cy="448310"/>
          </a:xfrm>
          <a:prstGeom prst="rect">
            <a:avLst/>
          </a:prstGeom>
        </p:spPr>
        <p:txBody>
          <a:bodyPr vert="horz" wrap="square" lIns="0" tIns="20081" rIns="0" bIns="0" rtlCol="0">
            <a:spAutoFit/>
          </a:bodyPr>
          <a:lstStyle/>
          <a:p>
            <a:pPr marL="19050">
              <a:spcBef>
                <a:spcPts val="160"/>
              </a:spcBef>
            </a:pPr>
            <a:r>
              <a:rPr lang="en-US" sz="2785" b="1"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Dataset and </a:t>
            </a:r>
            <a:r>
              <a:rPr sz="2785" b="1"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Method</a:t>
            </a:r>
            <a:r>
              <a:rPr lang="en-US" sz="2785" b="1" i="1" spc="8"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s</a:t>
            </a:r>
            <a:endParaRPr sz="2785"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sp>
        <p:nvSpPr>
          <p:cNvPr id="34" name="object 66"/>
          <p:cNvSpPr txBox="1"/>
          <p:nvPr/>
        </p:nvSpPr>
        <p:spPr>
          <a:xfrm>
            <a:off x="8437726" y="8603798"/>
            <a:ext cx="6069927" cy="296436"/>
          </a:xfrm>
          <a:prstGeom prst="rect">
            <a:avLst/>
          </a:prstGeom>
        </p:spPr>
        <p:txBody>
          <a:bodyPr vert="horz" wrap="square" lIns="0" tIns="18169" rIns="0" bIns="0" rtlCol="0">
            <a:spAutoFit/>
          </a:bodyPr>
          <a:lstStyle/>
          <a:p>
            <a:pPr marL="19050" marR="260985" algn="just">
              <a:spcBef>
                <a:spcPts val="145"/>
              </a:spcBef>
            </a:pPr>
            <a:r>
              <a:rPr lang="en-US" sz="1805" b="1" i="1" spc="-8" dirty="0">
                <a:solidFill>
                  <a:srgbClr val="202475"/>
                </a:solidFill>
                <a:latin typeface="Tahoma" panose="020B0604030504040204"/>
                <a:cs typeface="Tahoma" panose="020B0604030504040204"/>
              </a:rPr>
              <a:t>A. The Construction of </a:t>
            </a:r>
            <a:r>
              <a:rPr lang="en-US" altLang="zh-CN" sz="1805" b="1" i="1" spc="-8" dirty="0">
                <a:solidFill>
                  <a:srgbClr val="202475"/>
                </a:solidFill>
                <a:latin typeface="Tahoma" panose="020B0604030504040204"/>
                <a:cs typeface="Tahoma" panose="020B0604030504040204"/>
              </a:rPr>
              <a:t>Summary Specification</a:t>
            </a:r>
            <a:endParaRPr sz="1805" i="1" dirty="0">
              <a:solidFill>
                <a:srgbClr val="202475"/>
              </a:solidFill>
              <a:latin typeface="Tahoma" panose="020B0604030504040204"/>
              <a:cs typeface="Tahoma" panose="020B0604030504040204"/>
            </a:endParaRPr>
          </a:p>
        </p:txBody>
      </p:sp>
      <p:sp>
        <p:nvSpPr>
          <p:cNvPr id="25" name="文本框 24"/>
          <p:cNvSpPr txBox="1"/>
          <p:nvPr/>
        </p:nvSpPr>
        <p:spPr>
          <a:xfrm>
            <a:off x="8482965" y="9008110"/>
            <a:ext cx="5836920" cy="2122170"/>
          </a:xfrm>
          <a:prstGeom prst="rect">
            <a:avLst/>
          </a:prstGeom>
          <a:noFill/>
        </p:spPr>
        <p:txBody>
          <a:bodyPr wrap="square" rtlCol="0">
            <a:noAutofit/>
          </a:bodyPr>
          <a:lstStyle/>
          <a:p>
            <a:r>
              <a:rPr lang="en-US" altLang="zh-CN" i="1" dirty="0">
                <a:cs typeface="+mn-lt"/>
                <a:sym typeface="+mn-ea"/>
              </a:rPr>
              <a:t>The </a:t>
            </a:r>
            <a:r>
              <a:rPr lang="en-US" altLang="zh-CN" b="1" i="1" dirty="0">
                <a:solidFill>
                  <a:schemeClr val="tx1"/>
                </a:solidFill>
                <a:cs typeface="+mn-lt"/>
                <a:sym typeface="+mn-ea"/>
              </a:rPr>
              <a:t>summary specification</a:t>
            </a:r>
            <a:r>
              <a:rPr lang="en-US" altLang="zh-CN" i="1" dirty="0">
                <a:cs typeface="+mn-lt"/>
                <a:sym typeface="+mn-ea"/>
              </a:rPr>
              <a:t> should be short, but sufficiently descriptive of the tasks defined by multiple steps. Five annotators manually read all the individual steps in all </a:t>
            </a:r>
            <a:r>
              <a:rPr lang="en-US" altLang="zh-CN" b="1" i="1" dirty="0">
                <a:cs typeface="+mn-lt"/>
                <a:sym typeface="+mn-ea"/>
              </a:rPr>
              <a:t>MTPB</a:t>
            </a:r>
            <a:r>
              <a:rPr lang="en-US" altLang="zh-CN" i="1" dirty="0">
                <a:cs typeface="+mn-lt"/>
                <a:sym typeface="+mn-ea"/>
              </a:rPr>
              <a:t> and one lead annotator checked the validity of summary specification with the help of LLMs. The average length of our summary specification is X and average length of all individual steps is Y. We find that some problems in MTPB are simple concatenation of almost irrelevant processing steps that cannot be summarized. We split the data into two groups: summarized and un-</a:t>
            </a:r>
            <a:r>
              <a:rPr lang="en-US" altLang="zh-CN" i="1" dirty="0" err="1">
                <a:cs typeface="+mn-lt"/>
                <a:sym typeface="+mn-ea"/>
              </a:rPr>
              <a:t>summarizable</a:t>
            </a:r>
            <a:r>
              <a:rPr lang="en-US" altLang="zh-CN" i="1" dirty="0">
                <a:cs typeface="+mn-lt"/>
                <a:sym typeface="+mn-ea"/>
              </a:rPr>
              <a:t>.  There are X summarized cases and Y un-</a:t>
            </a:r>
            <a:r>
              <a:rPr lang="en-US" altLang="zh-CN" i="1" dirty="0" err="1">
                <a:cs typeface="+mn-lt"/>
                <a:sym typeface="+mn-ea"/>
              </a:rPr>
              <a:t>summarizable</a:t>
            </a:r>
            <a:r>
              <a:rPr lang="en-US" altLang="zh-CN" i="1" dirty="0">
                <a:cs typeface="+mn-lt"/>
                <a:sym typeface="+mn-ea"/>
              </a:rPr>
              <a:t> cases.    </a:t>
            </a:r>
            <a:endParaRPr lang="zh-CN" altLang="en-US" i="1" dirty="0">
              <a:cs typeface="+mn-lt"/>
            </a:endParaRPr>
          </a:p>
        </p:txBody>
      </p:sp>
      <p:sp>
        <p:nvSpPr>
          <p:cNvPr id="53" name="文本框 52"/>
          <p:cNvSpPr txBox="1"/>
          <p:nvPr/>
        </p:nvSpPr>
        <p:spPr>
          <a:xfrm>
            <a:off x="15516225" y="9311005"/>
            <a:ext cx="4217035" cy="368300"/>
          </a:xfrm>
          <a:prstGeom prst="rect">
            <a:avLst/>
          </a:prstGeom>
          <a:noFill/>
        </p:spPr>
        <p:txBody>
          <a:bodyPr wrap="square" rtlCol="0">
            <a:spAutoFit/>
          </a:bodyPr>
          <a:p>
            <a:r>
              <a:rPr lang="en-US" altLang="zh-CN" b="1" i="1"/>
              <a:t>Figure1: The flow path of Auto-D with CoT</a:t>
            </a:r>
            <a:endParaRPr lang="en-US" altLang="zh-CN" b="1" i="1"/>
          </a:p>
        </p:txBody>
      </p:sp>
      <p:sp>
        <p:nvSpPr>
          <p:cNvPr id="64" name="文本框 63"/>
          <p:cNvSpPr txBox="1"/>
          <p:nvPr>
            <p:custDataLst>
              <p:tags r:id="rId8"/>
            </p:custDataLst>
          </p:nvPr>
        </p:nvSpPr>
        <p:spPr>
          <a:xfrm>
            <a:off x="17602200" y="28481655"/>
            <a:ext cx="3494405" cy="306705"/>
          </a:xfrm>
          <a:prstGeom prst="rect">
            <a:avLst/>
          </a:prstGeom>
          <a:noFill/>
        </p:spPr>
        <p:txBody>
          <a:bodyPr wrap="square" rtlCol="0">
            <a:spAutoFit/>
          </a:bodyPr>
          <a:p>
            <a:r>
              <a:rPr lang="en-US" altLang="zh-CN" sz="1400" b="1" i="1"/>
              <a:t>Figure5: The </a:t>
            </a:r>
            <a:r>
              <a:rPr lang="en-US" altLang="zh-CN" sz="1400" b="1" i="1"/>
              <a:t>five code string outputs of id66</a:t>
            </a:r>
            <a:endParaRPr lang="en-US" altLang="zh-CN" sz="1400" b="1" i="1"/>
          </a:p>
        </p:txBody>
      </p:sp>
      <p:sp>
        <p:nvSpPr>
          <p:cNvPr id="65" name="圆角矩形 64"/>
          <p:cNvSpPr/>
          <p:nvPr>
            <p:custDataLst>
              <p:tags r:id="rId9"/>
            </p:custDataLst>
          </p:nvPr>
        </p:nvSpPr>
        <p:spPr>
          <a:xfrm>
            <a:off x="13510895" y="22618700"/>
            <a:ext cx="4045585" cy="146050"/>
          </a:xfrm>
          <a:prstGeom prst="roundRect">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7" name="图片 26" descr="id66_34codejson"/>
          <p:cNvPicPr>
            <a:picLocks noChangeAspect="1"/>
          </p:cNvPicPr>
          <p:nvPr/>
        </p:nvPicPr>
        <p:blipFill>
          <a:blip r:embed="rId10"/>
          <a:stretch>
            <a:fillRect/>
          </a:stretch>
        </p:blipFill>
        <p:spPr>
          <a:xfrm>
            <a:off x="17602200" y="21061680"/>
            <a:ext cx="3407410" cy="7524115"/>
          </a:xfrm>
          <a:prstGeom prst="rect">
            <a:avLst/>
          </a:prstGeom>
        </p:spPr>
      </p:pic>
      <p:pic>
        <p:nvPicPr>
          <p:cNvPr id="66" name="图片 65" descr="id66"/>
          <p:cNvPicPr>
            <a:picLocks noChangeAspect="1"/>
          </p:cNvPicPr>
          <p:nvPr/>
        </p:nvPicPr>
        <p:blipFill>
          <a:blip r:embed="rId11"/>
          <a:stretch>
            <a:fillRect/>
          </a:stretch>
        </p:blipFill>
        <p:spPr>
          <a:xfrm>
            <a:off x="14757400" y="11925935"/>
            <a:ext cx="6070600" cy="2644775"/>
          </a:xfrm>
          <a:prstGeom prst="rect">
            <a:avLst/>
          </a:prstGeom>
        </p:spPr>
      </p:pic>
      <p:pic>
        <p:nvPicPr>
          <p:cNvPr id="42" name="图片 41" descr="example2.drawio"/>
          <p:cNvPicPr>
            <a:picLocks noChangeAspect="1"/>
          </p:cNvPicPr>
          <p:nvPr/>
        </p:nvPicPr>
        <p:blipFill>
          <a:blip r:embed="rId12"/>
          <a:stretch>
            <a:fillRect/>
          </a:stretch>
        </p:blipFill>
        <p:spPr>
          <a:xfrm>
            <a:off x="17744440" y="9676765"/>
            <a:ext cx="3308350" cy="2673350"/>
          </a:xfrm>
          <a:prstGeom prst="rect">
            <a:avLst/>
          </a:prstGeom>
        </p:spPr>
      </p:pic>
      <p:pic>
        <p:nvPicPr>
          <p:cNvPr id="54" name="图片 53" descr="example1.drawio"/>
          <p:cNvPicPr>
            <a:picLocks noChangeAspect="1"/>
          </p:cNvPicPr>
          <p:nvPr/>
        </p:nvPicPr>
        <p:blipFill>
          <a:blip r:embed="rId13"/>
          <a:stretch>
            <a:fillRect/>
          </a:stretch>
        </p:blipFill>
        <p:spPr>
          <a:xfrm>
            <a:off x="14319885" y="9679305"/>
            <a:ext cx="3348990" cy="2673350"/>
          </a:xfrm>
          <a:prstGeom prst="rect">
            <a:avLst/>
          </a:prstGeom>
        </p:spPr>
      </p:pic>
      <p:sp>
        <p:nvSpPr>
          <p:cNvPr id="55" name="文本框 54"/>
          <p:cNvSpPr txBox="1"/>
          <p:nvPr>
            <p:custDataLst>
              <p:tags r:id="rId14"/>
            </p:custDataLst>
          </p:nvPr>
        </p:nvSpPr>
        <p:spPr>
          <a:xfrm>
            <a:off x="14426565" y="12153900"/>
            <a:ext cx="6401435" cy="368300"/>
          </a:xfrm>
          <a:prstGeom prst="rect">
            <a:avLst/>
          </a:prstGeom>
          <a:noFill/>
        </p:spPr>
        <p:txBody>
          <a:bodyPr wrap="square" rtlCol="0">
            <a:spAutoFit/>
          </a:bodyPr>
          <a:p>
            <a:r>
              <a:rPr lang="en-US" altLang="zh-CN" b="1" i="1"/>
              <a:t>Figure2: The difference between the datasets MTPB and EMTPB</a:t>
            </a:r>
            <a:endParaRPr lang="en-US" altLang="zh-CN" b="1" i="1"/>
          </a:p>
        </p:txBody>
      </p:sp>
      <p:pic>
        <p:nvPicPr>
          <p:cNvPr id="18" name="图片 17" descr="id66_decomposition"/>
          <p:cNvPicPr>
            <a:picLocks noChangeAspect="1"/>
          </p:cNvPicPr>
          <p:nvPr/>
        </p:nvPicPr>
        <p:blipFill>
          <a:blip r:embed="rId15"/>
          <a:stretch>
            <a:fillRect/>
          </a:stretch>
        </p:blipFill>
        <p:spPr>
          <a:xfrm>
            <a:off x="14250035" y="14162405"/>
            <a:ext cx="3229610" cy="6760845"/>
          </a:xfrm>
          <a:prstGeom prst="rect">
            <a:avLst/>
          </a:prstGeom>
        </p:spPr>
      </p:pic>
      <p:pic>
        <p:nvPicPr>
          <p:cNvPr id="16" name="图片 15" descr="id66_012codejson"/>
          <p:cNvPicPr>
            <a:picLocks noChangeAspect="1"/>
          </p:cNvPicPr>
          <p:nvPr/>
        </p:nvPicPr>
        <p:blipFill>
          <a:blip r:embed="rId16"/>
          <a:stretch>
            <a:fillRect/>
          </a:stretch>
        </p:blipFill>
        <p:spPr>
          <a:xfrm>
            <a:off x="17602200" y="14154785"/>
            <a:ext cx="3408045" cy="6760845"/>
          </a:xfrm>
          <a:prstGeom prst="rect">
            <a:avLst/>
          </a:prstGeom>
        </p:spPr>
      </p:pic>
      <p:sp>
        <p:nvSpPr>
          <p:cNvPr id="57" name="圆角矩形 56"/>
          <p:cNvSpPr/>
          <p:nvPr/>
        </p:nvSpPr>
        <p:spPr>
          <a:xfrm>
            <a:off x="17556480" y="13959840"/>
            <a:ext cx="3517900" cy="14828520"/>
          </a:xfrm>
          <a:prstGeom prst="roundRect">
            <a:avLst/>
          </a:prstGeom>
          <a:noFill/>
          <a:ln>
            <a:solidFill>
              <a:srgbClr val="7030A0"/>
            </a:solidFill>
          </a:ln>
          <a:extLst>
            <a:ext uri="{909E8E84-426E-40DD-AFC4-6F175D3DCCD1}">
              <a14:hiddenFill xmlns:a14="http://schemas.microsoft.com/office/drawing/2010/main">
                <a:solidFill>
                  <a:schemeClr val="accent5">
                    <a:lumMod val="60000"/>
                    <a:lumOff val="4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文本框 57"/>
          <p:cNvSpPr txBox="1"/>
          <p:nvPr>
            <p:custDataLst>
              <p:tags r:id="rId17"/>
            </p:custDataLst>
          </p:nvPr>
        </p:nvSpPr>
        <p:spPr>
          <a:xfrm>
            <a:off x="14250035" y="20754975"/>
            <a:ext cx="3167380" cy="306705"/>
          </a:xfrm>
          <a:prstGeom prst="rect">
            <a:avLst/>
          </a:prstGeom>
          <a:noFill/>
        </p:spPr>
        <p:txBody>
          <a:bodyPr wrap="square" rtlCol="0">
            <a:spAutoFit/>
          </a:bodyPr>
          <a:p>
            <a:r>
              <a:rPr lang="en-US" altLang="zh-CN" sz="1400" b="1" i="1"/>
              <a:t>Figure4: The Auto decomposition of id66)</a:t>
            </a:r>
            <a:endParaRPr lang="en-US" altLang="zh-CN" sz="1400" b="1" i="1"/>
          </a:p>
        </p:txBody>
      </p:sp>
      <p:sp>
        <p:nvSpPr>
          <p:cNvPr id="71" name="文本框 70"/>
          <p:cNvSpPr txBox="1"/>
          <p:nvPr>
            <p:custDataLst>
              <p:tags r:id="rId18"/>
            </p:custDataLst>
          </p:nvPr>
        </p:nvSpPr>
        <p:spPr>
          <a:xfrm>
            <a:off x="14426565" y="13959840"/>
            <a:ext cx="6940550" cy="368300"/>
          </a:xfrm>
          <a:prstGeom prst="rect">
            <a:avLst/>
          </a:prstGeom>
          <a:noFill/>
        </p:spPr>
        <p:txBody>
          <a:bodyPr wrap="square" rtlCol="0">
            <a:spAutoFit/>
          </a:bodyPr>
          <a:p>
            <a:r>
              <a:rPr lang="en-US" altLang="zh-CN" b="1" i="1"/>
              <a:t>Figure3: The datasets of EMTPB: id66 to verify the method feasibility</a:t>
            </a:r>
            <a:endParaRPr lang="en-US" altLang="zh-CN" b="1" i="1"/>
          </a:p>
        </p:txBody>
      </p:sp>
      <p:sp>
        <p:nvSpPr>
          <p:cNvPr id="74" name="文本框 73"/>
          <p:cNvSpPr txBox="1"/>
          <p:nvPr>
            <p:custDataLst>
              <p:tags r:id="rId19"/>
            </p:custDataLst>
          </p:nvPr>
        </p:nvSpPr>
        <p:spPr>
          <a:xfrm>
            <a:off x="14319885" y="26109295"/>
            <a:ext cx="2488565" cy="306705"/>
          </a:xfrm>
          <a:prstGeom prst="rect">
            <a:avLst/>
          </a:prstGeom>
          <a:noFill/>
        </p:spPr>
        <p:txBody>
          <a:bodyPr wrap="square" rtlCol="0">
            <a:spAutoFit/>
          </a:bodyPr>
          <a:p>
            <a:r>
              <a:rPr lang="en-US" altLang="zh-CN" sz="1400" b="1" i="1"/>
              <a:t>Figure6: The five code of id66</a:t>
            </a:r>
            <a:endParaRPr lang="en-US" altLang="zh-CN" sz="1400" b="1" i="1"/>
          </a:p>
        </p:txBody>
      </p:sp>
      <p:sp>
        <p:nvSpPr>
          <p:cNvPr id="77" name="矩形 76"/>
          <p:cNvSpPr/>
          <p:nvPr/>
        </p:nvSpPr>
        <p:spPr>
          <a:xfrm>
            <a:off x="368935" y="17219295"/>
            <a:ext cx="8160385" cy="5791200"/>
          </a:xfrm>
          <a:prstGeom prst="rect">
            <a:avLst/>
          </a:prstGeom>
          <a:solidFill>
            <a:schemeClr val="bg1"/>
          </a:solidFill>
          <a:ln>
            <a:solidFill>
              <a:srgbClr val="000000">
                <a:alpha val="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5" name="object 65"/>
          <p:cNvSpPr txBox="1"/>
          <p:nvPr/>
        </p:nvSpPr>
        <p:spPr>
          <a:xfrm>
            <a:off x="414655" y="17397730"/>
            <a:ext cx="5553710" cy="573405"/>
          </a:xfrm>
          <a:prstGeom prst="rect">
            <a:avLst/>
          </a:prstGeom>
        </p:spPr>
        <p:txBody>
          <a:bodyPr vert="horz" wrap="square" lIns="0" tIns="20081" rIns="0" bIns="0" rtlCol="0">
            <a:noAutofit/>
          </a:bodyPr>
          <a:lstStyle/>
          <a:p>
            <a:pPr marL="19050">
              <a:spcBef>
                <a:spcPts val="160"/>
              </a:spcBef>
            </a:pPr>
            <a:r>
              <a:rPr lang="en-US" sz="3200" b="1"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Experiments and Result</a:t>
            </a:r>
            <a:r>
              <a:rPr lang="en-US" sz="3200" b="1" i="1" spc="8"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s</a:t>
            </a:r>
            <a:endParaRPr sz="3200"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pic>
        <p:nvPicPr>
          <p:cNvPr id="81" name="图片 80" descr="errorbar_plot"/>
          <p:cNvPicPr>
            <a:picLocks noChangeAspect="1"/>
          </p:cNvPicPr>
          <p:nvPr/>
        </p:nvPicPr>
        <p:blipFill>
          <a:blip r:embed="rId20"/>
          <a:stretch>
            <a:fillRect/>
          </a:stretch>
        </p:blipFill>
        <p:spPr>
          <a:xfrm>
            <a:off x="419735" y="18335625"/>
            <a:ext cx="5107940" cy="3830955"/>
          </a:xfrm>
          <a:prstGeom prst="rect">
            <a:avLst/>
          </a:prstGeom>
        </p:spPr>
      </p:pic>
      <p:sp>
        <p:nvSpPr>
          <p:cNvPr id="78" name="文本框 68"/>
          <p:cNvSpPr txBox="1"/>
          <p:nvPr/>
        </p:nvSpPr>
        <p:spPr>
          <a:xfrm>
            <a:off x="6128385" y="17397730"/>
            <a:ext cx="7991475" cy="672465"/>
          </a:xfrm>
          <a:prstGeom prst="rect">
            <a:avLst/>
          </a:prstGeom>
          <a:noFill/>
        </p:spPr>
        <p:txBody>
          <a:bodyPr wrap="square" rtlCol="0">
            <a:noAutofit/>
          </a:bodyPr>
          <a:lstStyle/>
          <a:p>
            <a:r>
              <a:rPr lang="en-US" altLang="zh-CN" i="1" dirty="0">
                <a:sym typeface="+mn-ea"/>
              </a:rPr>
              <a:t>We find that when using </a:t>
            </a:r>
            <a:r>
              <a:rPr lang="en-US" altLang="zh-CN" i="1" dirty="0" err="1">
                <a:sym typeface="+mn-ea"/>
              </a:rPr>
              <a:t>CoT</a:t>
            </a:r>
            <a:r>
              <a:rPr lang="en-US" altLang="zh-CN" i="1" dirty="0">
                <a:sym typeface="+mn-ea"/>
              </a:rPr>
              <a:t>, GPT3.5 may prefer copying from examples. This cause the model to deviate from solving the given problem. </a:t>
            </a:r>
            <a:r>
              <a:rPr lang="en-US" altLang="zh-CN" i="1" dirty="0">
                <a:solidFill>
                  <a:schemeClr val="tx1"/>
                </a:solidFill>
                <a:sym typeface="+mn-ea"/>
              </a:rPr>
              <a:t>We explicitly add </a:t>
            </a:r>
            <a:r>
              <a:rPr lang="en-US" i="1" dirty="0">
                <a:solidFill>
                  <a:schemeClr val="tx1"/>
                </a:solidFill>
              </a:rPr>
              <a:t>“You must  </a:t>
            </a:r>
            <a:r>
              <a:rPr lang="en-US" b="1" i="1" dirty="0">
                <a:solidFill>
                  <a:schemeClr val="tx1"/>
                </a:solidFill>
              </a:rPr>
              <a:t>                                 </a:t>
            </a:r>
            <a:endParaRPr lang="en-US" altLang="zh-CN" b="1" i="1" dirty="0">
              <a:solidFill>
                <a:schemeClr val="tx1"/>
              </a:solidFill>
              <a:sym typeface="+mn-ea"/>
            </a:endParaRPr>
          </a:p>
        </p:txBody>
      </p:sp>
      <p:sp>
        <p:nvSpPr>
          <p:cNvPr id="82" name="文本框 81"/>
          <p:cNvSpPr txBox="1"/>
          <p:nvPr/>
        </p:nvSpPr>
        <p:spPr>
          <a:xfrm>
            <a:off x="10484485" y="17971135"/>
            <a:ext cx="3764915" cy="1198880"/>
          </a:xfrm>
          <a:prstGeom prst="rect">
            <a:avLst/>
          </a:prstGeom>
          <a:noFill/>
        </p:spPr>
        <p:txBody>
          <a:bodyPr wrap="square" rtlCol="0">
            <a:spAutoFit/>
          </a:bodyPr>
          <a:p>
            <a:r>
              <a:rPr lang="en-US" i="1" dirty="0">
                <a:sym typeface="+mn-ea"/>
              </a:rPr>
              <a:t>not copy the code about the question example”  </a:t>
            </a:r>
            <a:r>
              <a:rPr lang="en-US" i="1" dirty="0">
                <a:sym typeface="+mn-ea"/>
              </a:rPr>
              <a:t>into the prompts to avoid this issue.</a:t>
            </a:r>
            <a:r>
              <a:rPr lang="en-US" i="1" dirty="0">
                <a:sym typeface="+mn-ea"/>
              </a:rPr>
              <a:t>   </a:t>
            </a:r>
            <a:r>
              <a:rPr lang="en-US" b="1" i="1" dirty="0">
                <a:sym typeface="+mn-ea"/>
              </a:rPr>
              <a:t>                        </a:t>
            </a:r>
            <a:endParaRPr lang="en-US" altLang="zh-CN" b="1" i="1" dirty="0">
              <a:solidFill>
                <a:schemeClr val="tx1"/>
              </a:solidFill>
              <a:sym typeface="+mn-ea"/>
            </a:endParaRPr>
          </a:p>
          <a:p>
            <a:endParaRPr lang="zh-CN" altLang="en-US"/>
          </a:p>
        </p:txBody>
      </p:sp>
      <p:pic>
        <p:nvPicPr>
          <p:cNvPr id="80" name="图片 79" descr="bar_chart_no"/>
          <p:cNvPicPr>
            <a:picLocks noChangeAspect="1"/>
          </p:cNvPicPr>
          <p:nvPr/>
        </p:nvPicPr>
        <p:blipFill>
          <a:blip r:embed="rId21"/>
          <a:stretch>
            <a:fillRect/>
          </a:stretch>
        </p:blipFill>
        <p:spPr>
          <a:xfrm>
            <a:off x="8446770" y="22473285"/>
            <a:ext cx="5050155" cy="4167505"/>
          </a:xfrm>
          <a:prstGeom prst="rect">
            <a:avLst/>
          </a:prstGeom>
        </p:spPr>
      </p:pic>
      <p:sp>
        <p:nvSpPr>
          <p:cNvPr id="83" name="文本框 82"/>
          <p:cNvSpPr txBox="1"/>
          <p:nvPr>
            <p:custDataLst>
              <p:tags r:id="rId22"/>
            </p:custDataLst>
          </p:nvPr>
        </p:nvSpPr>
        <p:spPr>
          <a:xfrm>
            <a:off x="10600055" y="20782915"/>
            <a:ext cx="3100705" cy="1383665"/>
          </a:xfrm>
          <a:prstGeom prst="rect">
            <a:avLst/>
          </a:prstGeom>
          <a:noFill/>
        </p:spPr>
        <p:txBody>
          <a:bodyPr wrap="square" rtlCol="0">
            <a:spAutoFit/>
          </a:bodyPr>
          <a:p>
            <a:r>
              <a:rPr lang="en-US" altLang="zh-CN" sz="1400" b="1" i="1"/>
              <a:t>Figure7: The results of the outputs without </a:t>
            </a:r>
            <a:r>
              <a:rPr lang="en-US" sz="1400" b="1" i="1" dirty="0">
                <a:sym typeface="+mn-ea"/>
              </a:rPr>
              <a:t>“You must  </a:t>
            </a:r>
            <a:r>
              <a:rPr lang="en-US" sz="1400" b="1" i="1" dirty="0">
                <a:sym typeface="+mn-ea"/>
              </a:rPr>
              <a:t>not copy the code about the question example”  into the prompts to avoid this issue.                           </a:t>
            </a:r>
            <a:endParaRPr lang="en-US" altLang="zh-CN" sz="1400" b="1" i="1" dirty="0">
              <a:solidFill>
                <a:schemeClr val="tx1"/>
              </a:solidFill>
              <a:sym typeface="+mn-ea"/>
            </a:endParaRPr>
          </a:p>
          <a:p>
            <a:endParaRPr lang="zh-CN" altLang="en-US" sz="1400"/>
          </a:p>
          <a:p>
            <a:endParaRPr lang="en-US" altLang="zh-CN" sz="1400" b="1" i="1"/>
          </a:p>
        </p:txBody>
      </p:sp>
      <p:pic>
        <p:nvPicPr>
          <p:cNvPr id="84" name="图片 83" descr="bar_chart_1o"/>
          <p:cNvPicPr>
            <a:picLocks noChangeAspect="1"/>
          </p:cNvPicPr>
          <p:nvPr/>
        </p:nvPicPr>
        <p:blipFill>
          <a:blip r:embed="rId23"/>
          <a:stretch>
            <a:fillRect/>
          </a:stretch>
        </p:blipFill>
        <p:spPr>
          <a:xfrm>
            <a:off x="5302885" y="18197195"/>
            <a:ext cx="5181600" cy="4276090"/>
          </a:xfrm>
          <a:prstGeom prst="rect">
            <a:avLst/>
          </a:prstGeom>
        </p:spPr>
      </p:pic>
      <p:sp>
        <p:nvSpPr>
          <p:cNvPr id="85" name="文本框 84"/>
          <p:cNvSpPr txBox="1"/>
          <p:nvPr>
            <p:custDataLst>
              <p:tags r:id="rId24"/>
            </p:custDataLst>
          </p:nvPr>
        </p:nvSpPr>
        <p:spPr>
          <a:xfrm>
            <a:off x="5569585" y="22311995"/>
            <a:ext cx="5742940" cy="306705"/>
          </a:xfrm>
          <a:prstGeom prst="rect">
            <a:avLst/>
          </a:prstGeom>
          <a:noFill/>
        </p:spPr>
        <p:txBody>
          <a:bodyPr wrap="square" rtlCol="0">
            <a:spAutoFit/>
          </a:bodyPr>
          <a:p>
            <a:r>
              <a:rPr lang="en-US" altLang="zh-CN" sz="1400" b="1" i="1"/>
              <a:t>Figure9 : The </a:t>
            </a:r>
            <a:r>
              <a:rPr lang="en-US" sz="1400" b="1" i="1"/>
              <a:t>  accuracy Pass@2 of five methods based on the EMTPB.</a:t>
            </a:r>
            <a:endParaRPr lang="en-US" sz="1400" b="1" i="1"/>
          </a:p>
        </p:txBody>
      </p:sp>
      <p:sp>
        <p:nvSpPr>
          <p:cNvPr id="86" name="文本框 85"/>
          <p:cNvSpPr txBox="1"/>
          <p:nvPr>
            <p:custDataLst>
              <p:tags r:id="rId25"/>
            </p:custDataLst>
          </p:nvPr>
        </p:nvSpPr>
        <p:spPr>
          <a:xfrm>
            <a:off x="660400" y="21859875"/>
            <a:ext cx="4867275" cy="306705"/>
          </a:xfrm>
          <a:prstGeom prst="rect">
            <a:avLst/>
          </a:prstGeom>
          <a:noFill/>
        </p:spPr>
        <p:txBody>
          <a:bodyPr wrap="square" rtlCol="0">
            <a:spAutoFit/>
          </a:bodyPr>
          <a:p>
            <a:r>
              <a:rPr lang="en-US" altLang="zh-CN" sz="1400" b="1" i="1"/>
              <a:t>Figure8: The </a:t>
            </a:r>
            <a:r>
              <a:rPr lang="en-US" sz="1400" b="1" i="1"/>
              <a:t>error bar of the experiments in two epoches</a:t>
            </a:r>
            <a:endParaRPr lang="en-US" sz="1400" b="1" i="1"/>
          </a:p>
        </p:txBody>
      </p:sp>
      <p:sp>
        <p:nvSpPr>
          <p:cNvPr id="87" name="文本框 86"/>
          <p:cNvSpPr txBox="1"/>
          <p:nvPr>
            <p:custDataLst>
              <p:tags r:id="rId26"/>
            </p:custDataLst>
          </p:nvPr>
        </p:nvSpPr>
        <p:spPr>
          <a:xfrm>
            <a:off x="8507095" y="26640790"/>
            <a:ext cx="5742940" cy="521970"/>
          </a:xfrm>
          <a:prstGeom prst="rect">
            <a:avLst/>
          </a:prstGeom>
          <a:noFill/>
        </p:spPr>
        <p:txBody>
          <a:bodyPr wrap="square" rtlCol="0">
            <a:spAutoFit/>
          </a:bodyPr>
          <a:p>
            <a:r>
              <a:rPr lang="en-US" altLang="zh-CN" sz="1400" b="1" i="1"/>
              <a:t>Figure9 : The </a:t>
            </a:r>
            <a:r>
              <a:rPr lang="en-US" sz="1400" b="1" i="1"/>
              <a:t>  accuracy Pass@1 of five methods without </a:t>
            </a:r>
            <a:r>
              <a:rPr lang="en-US" sz="1400" b="1" i="1" dirty="0">
                <a:sym typeface="+mn-ea"/>
              </a:rPr>
              <a:t>“You must  not copy the code about the question example” </a:t>
            </a:r>
            <a:r>
              <a:rPr lang="en-US" sz="1400" b="1" i="1"/>
              <a:t>based on the EMTPB.</a:t>
            </a:r>
            <a:endParaRPr lang="en-US" sz="1400" b="1" i="1"/>
          </a:p>
        </p:txBody>
      </p:sp>
      <p:pic>
        <p:nvPicPr>
          <p:cNvPr id="10" name="图片 9" descr="qrcode"/>
          <p:cNvPicPr>
            <a:picLocks noChangeAspect="1"/>
          </p:cNvPicPr>
          <p:nvPr/>
        </p:nvPicPr>
        <p:blipFill>
          <a:blip r:embed="rId27"/>
          <a:stretch>
            <a:fillRect/>
          </a:stretch>
        </p:blipFill>
        <p:spPr>
          <a:xfrm>
            <a:off x="5302885" y="25781000"/>
            <a:ext cx="1236980" cy="1236980"/>
          </a:xfrm>
          <a:prstGeom prst="rect">
            <a:avLst/>
          </a:prstGeom>
        </p:spPr>
      </p:pic>
      <p:sp>
        <p:nvSpPr>
          <p:cNvPr id="11" name="文本框 10"/>
          <p:cNvSpPr txBox="1"/>
          <p:nvPr/>
        </p:nvSpPr>
        <p:spPr>
          <a:xfrm>
            <a:off x="556895" y="25781000"/>
            <a:ext cx="4882515" cy="1476375"/>
          </a:xfrm>
          <a:prstGeom prst="rect">
            <a:avLst/>
          </a:prstGeom>
          <a:noFill/>
        </p:spPr>
        <p:txBody>
          <a:bodyPr wrap="square" rtlCol="0">
            <a:spAutoFit/>
          </a:bodyPr>
          <a:p>
            <a:r>
              <a:rPr lang="fr-FR" altLang="zh-CN" dirty="0">
                <a:sym typeface="+mn-ea"/>
              </a:rPr>
              <a:t>Data and Code:</a:t>
            </a:r>
            <a:r>
              <a:rPr lang="fr-FR" altLang="zh-CN" i="1" dirty="0">
                <a:sym typeface="+mn-ea"/>
              </a:rPr>
              <a:t>  https://github.com/nakupenda-c/Auto- Prompt-Decomposition-with-Chain-of-Thought-in-Large-Language-Models-for-Program-Synthesis</a:t>
            </a:r>
            <a:endParaRPr lang="fr-FR" altLang="zh-CN" i="1" dirty="0"/>
          </a:p>
          <a:p>
            <a:endParaRPr lang="zh-CN" altLang="en-US"/>
          </a:p>
        </p:txBody>
      </p:sp>
      <p:pic>
        <p:nvPicPr>
          <p:cNvPr id="12" name="图片 11" descr="report"/>
          <p:cNvPicPr>
            <a:picLocks noChangeAspect="1"/>
          </p:cNvPicPr>
          <p:nvPr/>
        </p:nvPicPr>
        <p:blipFill>
          <a:blip r:embed="rId28"/>
          <a:stretch>
            <a:fillRect/>
          </a:stretch>
        </p:blipFill>
        <p:spPr>
          <a:xfrm>
            <a:off x="6666865" y="25764490"/>
            <a:ext cx="1264285" cy="1264285"/>
          </a:xfrm>
          <a:prstGeom prst="rect">
            <a:avLst/>
          </a:prstGeom>
        </p:spPr>
      </p:pic>
      <p:sp>
        <p:nvSpPr>
          <p:cNvPr id="17" name="文本框 16"/>
          <p:cNvSpPr txBox="1"/>
          <p:nvPr/>
        </p:nvSpPr>
        <p:spPr>
          <a:xfrm>
            <a:off x="5628640" y="26889075"/>
            <a:ext cx="842010" cy="337185"/>
          </a:xfrm>
          <a:prstGeom prst="rect">
            <a:avLst/>
          </a:prstGeom>
          <a:noFill/>
        </p:spPr>
        <p:txBody>
          <a:bodyPr wrap="square" rtlCol="0">
            <a:spAutoFit/>
          </a:bodyPr>
          <a:p>
            <a:r>
              <a:rPr lang="en-US" altLang="zh-CN" sz="1600" i="1"/>
              <a:t>code</a:t>
            </a:r>
            <a:endParaRPr lang="en-US" altLang="zh-CN" sz="1600" i="1"/>
          </a:p>
        </p:txBody>
      </p:sp>
      <p:sp>
        <p:nvSpPr>
          <p:cNvPr id="29" name="文本框 28"/>
          <p:cNvSpPr txBox="1"/>
          <p:nvPr>
            <p:custDataLst>
              <p:tags r:id="rId29"/>
            </p:custDataLst>
          </p:nvPr>
        </p:nvSpPr>
        <p:spPr>
          <a:xfrm>
            <a:off x="6962775" y="26889075"/>
            <a:ext cx="842010" cy="306705"/>
          </a:xfrm>
          <a:prstGeom prst="rect">
            <a:avLst/>
          </a:prstGeom>
          <a:noFill/>
        </p:spPr>
        <p:txBody>
          <a:bodyPr wrap="square" rtlCol="0">
            <a:spAutoFit/>
          </a:bodyPr>
          <a:p>
            <a:r>
              <a:rPr lang="en-US" altLang="zh-CN" sz="1400" i="1"/>
              <a:t>report</a:t>
            </a:r>
            <a:endParaRPr lang="en-US" altLang="zh-CN" sz="1400" i="1"/>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 name="KSO_WM_UNIT_PLACING_PICTURE_USER_VIEWPORT" val="{&quot;height&quot;:7829,&quot;width&quot;:6247}"/>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PP_MARK_KEY" val="8ed4ce56-7fc8-4714-a06f-a7c9a3fce372"/>
  <p:tag name="COMMONDATA" val="eyJoZGlkIjoiYzA4MDU3ZWM0MGZjMjE4OWRjYjYwM2I4OTY4YjQ3MWE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6865</Words>
  <Application>WPS 演示</Application>
  <PresentationFormat>Custom</PresentationFormat>
  <Paragraphs>106</Paragraphs>
  <Slides>1</Slides>
  <Notes>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vt:i4>
      </vt:variant>
    </vt:vector>
  </HeadingPairs>
  <TitlesOfParts>
    <vt:vector size="17" baseType="lpstr">
      <vt:lpstr>Arial</vt:lpstr>
      <vt:lpstr>宋体</vt:lpstr>
      <vt:lpstr>Wingdings</vt:lpstr>
      <vt:lpstr>Calibri</vt:lpstr>
      <vt:lpstr>Tahoma</vt:lpstr>
      <vt:lpstr>Segoe UI Black</vt:lpstr>
      <vt:lpstr>Cascadia Code SemiBold</vt:lpstr>
      <vt:lpstr>Cascadia Code</vt:lpstr>
      <vt:lpstr>Tahoma</vt:lpstr>
      <vt:lpstr>微软雅黑</vt:lpstr>
      <vt:lpstr>Arial Unicode MS</vt:lpstr>
      <vt:lpstr>等线 Light</vt:lpstr>
      <vt:lpstr>Calibri Light</vt:lpstr>
      <vt:lpstr>等线</vt:lpstr>
      <vt:lpstr>Calibri</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金 彦卓</dc:creator>
  <cp:lastModifiedBy>28449</cp:lastModifiedBy>
  <cp:revision>34</cp:revision>
  <dcterms:created xsi:type="dcterms:W3CDTF">2023-08-25T21:27:00Z</dcterms:created>
  <dcterms:modified xsi:type="dcterms:W3CDTF">2023-08-27T20:59:44Z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255E51A72BB64AF5A13FFFC434657BB1_12</vt:lpwstr>
  </property>
  <property fmtid="{D5CDD505-2E9C-101B-9397-08002B2CF9AE}" pid="3" name="KSOProductBuildVer">
    <vt:lpwstr>2052-12.1.0.15120</vt:lpwstr>
  </property>
</Properties>
</file>